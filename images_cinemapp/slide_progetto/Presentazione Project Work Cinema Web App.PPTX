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57" r:id="rId5"/>
    <p:sldId id="297" r:id="rId6"/>
    <p:sldId id="296" r:id="rId7"/>
    <p:sldId id="261" r:id="rId8"/>
    <p:sldId id="258" r:id="rId9"/>
    <p:sldId id="266" r:id="rId10"/>
    <p:sldId id="286" r:id="rId11"/>
    <p:sldId id="267" r:id="rId12"/>
    <p:sldId id="287" r:id="rId13"/>
    <p:sldId id="268" r:id="rId14"/>
    <p:sldId id="288" r:id="rId15"/>
    <p:sldId id="269" r:id="rId16"/>
    <p:sldId id="289" r:id="rId17"/>
    <p:sldId id="265" r:id="rId18"/>
    <p:sldId id="290" r:id="rId19"/>
    <p:sldId id="264" r:id="rId20"/>
    <p:sldId id="259" r:id="rId21"/>
    <p:sldId id="271" r:id="rId22"/>
    <p:sldId id="272" r:id="rId23"/>
    <p:sldId id="270" r:id="rId24"/>
    <p:sldId id="283" r:id="rId25"/>
    <p:sldId id="282" r:id="rId26"/>
    <p:sldId id="260" r:id="rId27"/>
    <p:sldId id="276" r:id="rId28"/>
    <p:sldId id="291" r:id="rId29"/>
    <p:sldId id="277" r:id="rId30"/>
    <p:sldId id="292" r:id="rId31"/>
    <p:sldId id="278" r:id="rId32"/>
    <p:sldId id="293" r:id="rId33"/>
    <p:sldId id="279" r:id="rId34"/>
    <p:sldId id="294" r:id="rId35"/>
    <p:sldId id="280" r:id="rId36"/>
    <p:sldId id="295" r:id="rId37"/>
    <p:sldId id="281" r:id="rId3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FF1C0E-9314-D694-C12C-E1A5056D4BEE}" v="395" dt="2024-10-30T15:21:18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EE45D1-6F61-1B5D-5BF5-5C43CDBB3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E1F21CF-35F1-DD17-DAB9-1CC66A075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C04C29A-1343-B33E-3D77-F8B3E9A0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30/10/2024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C36D003-492D-1724-AED4-A2B65BC64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5DDCF0-FEFA-DACE-B684-8CFB5019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672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0275C1-7026-18B5-AEF5-977EE8CB4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A21082-F235-926E-DDC0-791CB777A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42C81FF-47DA-FDF9-265A-92E5E26E4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30/10/2024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F62DA9-90B8-F361-C765-B317B7DA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4B895C-6B4A-EF85-DA35-A442BF524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8504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7CDDA0-5270-8463-1211-B8E803A10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06A1548-476A-8D1A-5D9C-4DBDBBD29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5F03F8-CC0C-1910-7B39-D0F1707C2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30/10/2024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CD8849-E1DC-79FE-5381-771D7140D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E2E4B4-1D98-1CBC-D4CD-7F206A454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1889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8C7744-E02B-952C-81D0-2E00D7E13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CCF3-E303-A57B-F7C0-BB4AF23389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5215D56-D25A-E6AC-86FE-4498CCA7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3FC73CA-4CB3-04DD-383D-ED21CB04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30/10/2024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E5898F1-851F-F393-AE9B-E99A1CD86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F7FCBD0-3EDA-D1C2-79B9-9A51CE5C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68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2934E2-12FB-4EB1-13FB-5D7D409F9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E3AFF5E-FAB2-34A2-CE68-E166699C1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170956B-DEA2-37CA-563E-F36B21696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628FC87-6853-0854-C462-411B2FE25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DDECC41-9BB9-D308-37FD-CAA66C07B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79A1E3B-7783-4192-1130-D2243B61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30/10/2024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FB85A63-6908-011E-B88D-81037695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359C681-2E90-2463-6241-60C2DB0A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275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3730AA-646B-64A5-8F47-EDE2FFCF2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5AC75E5-31F3-1F1D-570E-A1971D705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30/10/2024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183BEF8-39A7-DC6F-13CD-69D030A94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C916A07-A728-06A9-13E4-F6BA5B8A3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559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4846E02-1341-6FAA-05DF-C01A756E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30/10/2024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520626D-530F-60E0-4560-39317551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1CD569-DFD5-849A-C8CA-DD02BDD42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0790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25C761-AFF6-6818-F132-F4F17FFB6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7CC2A-9442-8753-9D0A-01A41D4D0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CC60CCF-EAF8-EB44-4338-7B406B73B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EBB00D6-FC3B-D2DE-F8E0-19F8D7EB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30/10/2024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C4011D-EDA1-6998-CC0E-48CFB0B5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A0B9E82-3484-AD62-4E67-E4FEFE2F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8622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676D27-B454-EEE9-55BD-02638525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2F5B8D6-FA55-16B3-AD68-3420931FAB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9892BE3-5A8F-2EFE-FD9A-4ADAD70CE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615FA4C-94EB-C642-15BC-B044A156A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30/10/2024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451AA14-7E7D-6D72-8AB3-17BA250E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B86A6F7-480E-11A1-D1BC-D57312F74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157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A8FFDB-2EB4-5368-7497-85D7B4F43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46D78A1-EFCA-B5AB-97A8-FDCC62444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7E2FB3-AA2B-D34C-BADE-6BA215C6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30/10/2024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C81235-FD02-1E7C-928E-FFD4E98C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F3DCF2-051D-EBD0-B403-237AD4B3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2602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006187F-695E-E8F7-C3B9-485177474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15ADCCE-D269-3275-9CBC-C044DB7EC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F5D844-A8D9-5654-5F73-72434199E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30/10/2024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1D3B60-5814-3B2A-DBDB-ED33E25A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821720-69DB-A47A-8113-BA537302E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2007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2D930FE-92C9-2436-6953-C781B90E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BC5EA6A-76A5-808F-BEAE-EC4561964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7F07BF1-361B-A56B-CDFB-805E0C6FA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20DC9-740E-4C2D-8A4B-A8FA59129AEB}" type="datetimeFigureOut">
              <a:rPr lang="it-IT" smtClean="0"/>
              <a:t>30/10/2024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2655B-59FC-D1FD-AC70-47C2287C6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A0785B-3893-3E79-8147-122C46B52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903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ingsoon.it/personaggi/halle-berry/11372/biografia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joaquin-phoenix/80914/biografia/" TargetMode="External"/><Relationship Id="rId2" Type="http://schemas.openxmlformats.org/officeDocument/2006/relationships/hyperlink" Target="https://www.comingsoon.it/personaggi/todd-phillips/127774/biografi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ingsoon.it/film/joker-folie-a-deux/62047/scheda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ingsoon.it/film/making-of/63482/scheda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rafaelle-sonneville-caby/296965/biografia/" TargetMode="External"/><Relationship Id="rId2" Type="http://schemas.openxmlformats.org/officeDocument/2006/relationships/hyperlink" Target="https://www.comingsoon.it/personaggi/leila-bekhti/182720/biografi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ingsoon.it/personaggi/jasmine-trinca/130686/biografia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christopher-lloyd/58227/biografia/" TargetMode="External"/><Relationship Id="rId2" Type="http://schemas.openxmlformats.org/officeDocument/2006/relationships/hyperlink" Target="https://www.comingsoon.it/personaggi/sharon-stone/100409/biografia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mingsoon.it/serietv/messiah/3098/scheda/" TargetMode="External"/><Relationship Id="rId5" Type="http://schemas.openxmlformats.org/officeDocument/2006/relationships/hyperlink" Target="https://www.comingsoon.it/film/american-fiction/63580/scheda/" TargetMode="External"/><Relationship Id="rId4" Type="http://schemas.openxmlformats.org/officeDocument/2006/relationships/hyperlink" Target="https://www.comingsoon.it/film/la-vita-dopo-the-fallout/62073/scheda/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film/streaming/" TargetMode="External"/><Relationship Id="rId2" Type="http://schemas.openxmlformats.org/officeDocument/2006/relationships/hyperlink" Target="https://www.comingsoon.it/personaggi/catherine-zeta-jones/120053/biografia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pierre-morel/157008/biografia/" TargetMode="External"/><Relationship Id="rId2" Type="http://schemas.openxmlformats.org/officeDocument/2006/relationships/hyperlink" Target="https://www.comingsoon.it/personaggi/kate-beckinsale/8768/biografia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film/parthenope/63309/scheda/" TargetMode="External"/><Relationship Id="rId2" Type="http://schemas.openxmlformats.org/officeDocument/2006/relationships/hyperlink" Target="https://www.comingsoon.it/film/vermiglio/65900/scheda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D4D38-0532-7257-28C5-516594965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682"/>
            <a:ext cx="9144000" cy="2387600"/>
          </a:xfrm>
        </p:spPr>
        <p:txBody>
          <a:bodyPr>
            <a:normAutofit/>
          </a:bodyPr>
          <a:lstStyle/>
          <a:p>
            <a:r>
              <a:rPr lang="it-IT" sz="4800">
                <a:solidFill>
                  <a:srgbClr val="FF0000"/>
                </a:solidFill>
              </a:rPr>
              <a:t>PROJECT WORK 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5025F30-AEE7-7EA8-2857-5985CD8285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sz="4400">
                <a:solidFill>
                  <a:srgbClr val="FF0000"/>
                </a:solidFill>
              </a:rPr>
              <a:t>CINEMA WEB APP</a:t>
            </a:r>
          </a:p>
        </p:txBody>
      </p:sp>
    </p:spTree>
    <p:extLst>
      <p:ext uri="{BB962C8B-B14F-4D97-AF65-F5344CB8AC3E}">
        <p14:creationId xmlns:p14="http://schemas.microsoft.com/office/powerpoint/2010/main" val="111290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D4D38-0532-7257-28C5-516594965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265" y="982512"/>
            <a:ext cx="8410223" cy="2578100"/>
          </a:xfrm>
        </p:spPr>
        <p:txBody>
          <a:bodyPr>
            <a:normAutofit fontScale="90000"/>
          </a:bodyPr>
          <a:lstStyle/>
          <a:p>
            <a: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  <a:t>Tecnologie da Utilizzare</a:t>
            </a:r>
            <a:br>
              <a:rPr lang="it-IT" sz="3200" dirty="0">
                <a:ea typeface="Calibri Light"/>
                <a:cs typeface="Calibri Light"/>
              </a:rPr>
            </a:br>
            <a:br>
              <a:rPr lang="it-IT" sz="3200" dirty="0"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Il progetto dovrà essere sviluppato con l'ultima versione di </a:t>
            </a:r>
            <a:r>
              <a:rPr lang="it-IT" sz="3200" dirty="0" err="1">
                <a:ea typeface="Calibri Light"/>
                <a:cs typeface="Calibri Light"/>
              </a:rPr>
              <a:t>React</a:t>
            </a:r>
            <a:r>
              <a:rPr lang="it-IT" sz="3200" dirty="0">
                <a:ea typeface="Calibri Light"/>
                <a:cs typeface="Calibri Light"/>
              </a:rPr>
              <a:t> v18.</a:t>
            </a:r>
            <a:br>
              <a:rPr lang="it-IT" sz="3200" dirty="0"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Per la creazione di Api e Authentication con </a:t>
            </a:r>
            <a:r>
              <a:rPr lang="it-IT" sz="3200" dirty="0" err="1">
                <a:ea typeface="Calibri Light"/>
                <a:cs typeface="Calibri Light"/>
              </a:rPr>
              <a:t>Firebase</a:t>
            </a:r>
            <a:r>
              <a:rPr lang="it-IT" sz="3200" dirty="0">
                <a:ea typeface="Calibri Light"/>
                <a:cs typeface="Calibri Light"/>
              </a:rPr>
              <a:t> o simili</a:t>
            </a:r>
            <a:br>
              <a:rPr lang="it-IT" sz="3200" dirty="0"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Librerie di componenti grafici- Bootstrap-</a:t>
            </a:r>
            <a:r>
              <a:rPr lang="it-IT" sz="3200" dirty="0" err="1">
                <a:ea typeface="Calibri Light"/>
                <a:cs typeface="Calibri Light"/>
              </a:rPr>
              <a:t>Material</a:t>
            </a:r>
            <a:r>
              <a:rPr lang="it-IT" sz="3200" dirty="0">
                <a:ea typeface="Calibri Light"/>
                <a:cs typeface="Calibri Light"/>
              </a:rPr>
              <a:t>.</a:t>
            </a:r>
            <a:br>
              <a:rPr lang="it-IT" sz="3200" dirty="0"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Libreria di chiamate Http: </a:t>
            </a:r>
            <a:r>
              <a:rPr lang="it-IT" sz="3200" dirty="0" err="1">
                <a:ea typeface="Calibri Light"/>
                <a:cs typeface="Calibri Light"/>
              </a:rPr>
              <a:t>Axios</a:t>
            </a:r>
            <a:br>
              <a:rPr lang="it-IT" sz="3200" dirty="0"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Gestione delle chiamate e degli stati: </a:t>
            </a:r>
            <a:r>
              <a:rPr lang="it-IT" sz="3200" dirty="0" err="1">
                <a:ea typeface="Calibri Light"/>
                <a:cs typeface="Calibri Light"/>
              </a:rPr>
              <a:t>Redux</a:t>
            </a:r>
            <a:endParaRPr lang="it-IT" sz="3200" dirty="0">
              <a:ea typeface="Calibri Light"/>
              <a:cs typeface="Calibri Light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B4E0C6F-967B-697F-0D31-2C27268B6B00}"/>
              </a:ext>
            </a:extLst>
          </p:cNvPr>
          <p:cNvSpPr txBox="1">
            <a:spLocks/>
          </p:cNvSpPr>
          <p:nvPr/>
        </p:nvSpPr>
        <p:spPr>
          <a:xfrm>
            <a:off x="1111955" y="3563527"/>
            <a:ext cx="8410223" cy="25781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>
                <a:solidFill>
                  <a:srgbClr val="FF0000"/>
                </a:solidFill>
                <a:ea typeface="Calibri Light"/>
                <a:cs typeface="Calibri Light"/>
              </a:rPr>
              <a:t>Home</a:t>
            </a:r>
            <a:br>
              <a:rPr lang="it-IT" sz="3200">
                <a:solidFill>
                  <a:srgbClr val="FF0000"/>
                </a:solidFill>
                <a:ea typeface="Calibri Light"/>
                <a:cs typeface="Calibri Light"/>
              </a:rPr>
            </a:br>
            <a:r>
              <a:rPr lang="it-IT" sz="3200">
                <a:ea typeface="Calibri Light"/>
                <a:cs typeface="Calibri Light"/>
              </a:rPr>
              <a:t>Creare delle api che restituiscano le immagini dei film di genere drammatico e sentimentale</a:t>
            </a:r>
          </a:p>
        </p:txBody>
      </p:sp>
    </p:spTree>
    <p:extLst>
      <p:ext uri="{BB962C8B-B14F-4D97-AF65-F5344CB8AC3E}">
        <p14:creationId xmlns:p14="http://schemas.microsoft.com/office/powerpoint/2010/main" val="59342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D4D38-0532-7257-28C5-516594965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8444" y="334904"/>
            <a:ext cx="8410223" cy="1646767"/>
          </a:xfrm>
        </p:spPr>
        <p:txBody>
          <a:bodyPr>
            <a:normAutofit/>
          </a:bodyPr>
          <a:lstStyle/>
          <a:p>
            <a:r>
              <a:rPr lang="it-IT" sz="3200">
                <a:solidFill>
                  <a:srgbClr val="FF0000"/>
                </a:solidFill>
                <a:ea typeface="Calibri Light"/>
                <a:cs typeface="Calibri Light"/>
              </a:rPr>
              <a:t>Trame</a:t>
            </a:r>
            <a:br>
              <a:rPr lang="it-IT" sz="3200">
                <a:solidFill>
                  <a:srgbClr val="FF0000"/>
                </a:solidFill>
                <a:ea typeface="Calibri Light"/>
                <a:cs typeface="Calibri Light"/>
              </a:rPr>
            </a:br>
            <a:r>
              <a:rPr lang="it-IT" sz="3200">
                <a:ea typeface="Calibri Light"/>
                <a:cs typeface="Calibri Light"/>
              </a:rPr>
              <a:t>Creare delle api che restituiscano immagine- titolo della trama e la descrizione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B4E0C6F-967B-697F-0D31-2C27268B6B00}"/>
              </a:ext>
            </a:extLst>
          </p:cNvPr>
          <p:cNvSpPr txBox="1">
            <a:spLocks/>
          </p:cNvSpPr>
          <p:nvPr/>
        </p:nvSpPr>
        <p:spPr>
          <a:xfrm>
            <a:off x="1408288" y="2688638"/>
            <a:ext cx="7662335" cy="14774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>
                <a:solidFill>
                  <a:srgbClr val="FF0000"/>
                </a:solidFill>
                <a:ea typeface="Calibri Light"/>
                <a:cs typeface="Calibri Light"/>
              </a:rPr>
              <a:t>Calendario Uscite</a:t>
            </a:r>
            <a:br>
              <a:rPr lang="it-IT" sz="3200">
                <a:solidFill>
                  <a:srgbClr val="FF0000"/>
                </a:solidFill>
                <a:ea typeface="Calibri Light"/>
                <a:cs typeface="Calibri Light"/>
              </a:rPr>
            </a:br>
            <a:r>
              <a:rPr lang="it-IT" sz="3200">
                <a:ea typeface="Calibri Light"/>
                <a:cs typeface="Calibri Light"/>
              </a:rPr>
              <a:t>Creare delle api che restituiscano immagine dei film e le info di ciascuno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6A4428E4-9277-39DF-CDD8-40428AE0792F}"/>
              </a:ext>
            </a:extLst>
          </p:cNvPr>
          <p:cNvSpPr txBox="1">
            <a:spLocks/>
          </p:cNvSpPr>
          <p:nvPr/>
        </p:nvSpPr>
        <p:spPr>
          <a:xfrm>
            <a:off x="1037166" y="4871626"/>
            <a:ext cx="7838723" cy="18866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>
                <a:solidFill>
                  <a:srgbClr val="FF0000"/>
                </a:solidFill>
                <a:ea typeface="Calibri Light"/>
                <a:cs typeface="Calibri Light"/>
              </a:rPr>
              <a:t>News</a:t>
            </a:r>
          </a:p>
          <a:p>
            <a:r>
              <a:rPr lang="it-IT" sz="3200">
                <a:ea typeface="Calibri Light"/>
                <a:cs typeface="Calibri Light"/>
              </a:rPr>
              <a:t>Creare delle api che restituiscano immagine titolo e descrizione della news</a:t>
            </a:r>
          </a:p>
        </p:txBody>
      </p:sp>
    </p:spTree>
    <p:extLst>
      <p:ext uri="{BB962C8B-B14F-4D97-AF65-F5344CB8AC3E}">
        <p14:creationId xmlns:p14="http://schemas.microsoft.com/office/powerpoint/2010/main" val="3032313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ACF366-9736-8753-9E86-A8A9CC82FEF8}"/>
              </a:ext>
            </a:extLst>
          </p:cNvPr>
          <p:cNvSpPr txBox="1"/>
          <p:nvPr/>
        </p:nvSpPr>
        <p:spPr>
          <a:xfrm>
            <a:off x="2426058" y="182623"/>
            <a:ext cx="653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                                              </a:t>
            </a:r>
            <a:r>
              <a:rPr lang="it-IT" b="1">
                <a:solidFill>
                  <a:srgbClr val="FF0000"/>
                </a:solidFill>
              </a:rPr>
              <a:t>CINEMA WEB APP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76E193B-0C52-8A3B-7796-F0CF58C5BB33}"/>
              </a:ext>
            </a:extLst>
          </p:cNvPr>
          <p:cNvSpPr txBox="1"/>
          <p:nvPr/>
        </p:nvSpPr>
        <p:spPr>
          <a:xfrm>
            <a:off x="4040170" y="1376798"/>
            <a:ext cx="262412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b="1" dirty="0">
                <a:cs typeface="Calibri"/>
              </a:rPr>
              <a:t>Inserisci le tue credenziali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D4BE199-AB18-0FD6-DA29-DAEE123466C8}"/>
              </a:ext>
            </a:extLst>
          </p:cNvPr>
          <p:cNvSpPr/>
          <p:nvPr/>
        </p:nvSpPr>
        <p:spPr>
          <a:xfrm>
            <a:off x="4068097" y="2199967"/>
            <a:ext cx="2777612" cy="319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E50E3A4-64BB-CFE1-AA90-00AE0775BDDA}"/>
              </a:ext>
            </a:extLst>
          </p:cNvPr>
          <p:cNvSpPr/>
          <p:nvPr/>
        </p:nvSpPr>
        <p:spPr>
          <a:xfrm>
            <a:off x="4068096" y="2882079"/>
            <a:ext cx="2777612" cy="319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it-IT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151625A4-B6C1-C01A-5706-9BA75DE22963}"/>
              </a:ext>
            </a:extLst>
          </p:cNvPr>
          <p:cNvSpPr/>
          <p:nvPr/>
        </p:nvSpPr>
        <p:spPr>
          <a:xfrm>
            <a:off x="4068096" y="3723967"/>
            <a:ext cx="1351935" cy="2949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Login</a:t>
            </a:r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D84A479-FD52-46ED-E593-8CE395D40885}"/>
              </a:ext>
            </a:extLst>
          </p:cNvPr>
          <p:cNvSpPr txBox="1"/>
          <p:nvPr/>
        </p:nvSpPr>
        <p:spPr>
          <a:xfrm>
            <a:off x="3982064" y="1935726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1100" dirty="0">
                <a:cs typeface="Calibri"/>
              </a:rPr>
              <a:t>email</a:t>
            </a:r>
            <a:endParaRPr lang="it-IT" sz="11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BE77D7F-3C60-B118-0267-99C8C047D808}"/>
              </a:ext>
            </a:extLst>
          </p:cNvPr>
          <p:cNvSpPr txBox="1"/>
          <p:nvPr/>
        </p:nvSpPr>
        <p:spPr>
          <a:xfrm>
            <a:off x="3982063" y="2617839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1100" dirty="0">
                <a:cs typeface="Calibri"/>
              </a:rPr>
              <a:t>password</a:t>
            </a:r>
            <a:endParaRPr lang="it-IT" sz="1100" dirty="0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9F065204-65DE-3FF9-8AF3-D48BE526EE0C}"/>
              </a:ext>
            </a:extLst>
          </p:cNvPr>
          <p:cNvSpPr/>
          <p:nvPr/>
        </p:nvSpPr>
        <p:spPr>
          <a:xfrm>
            <a:off x="5819466" y="3723966"/>
            <a:ext cx="1351935" cy="2949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cs typeface="Calibri"/>
              </a:rPr>
              <a:t>Registrati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72924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ACF366-9736-8753-9E86-A8A9CC82FEF8}"/>
              </a:ext>
            </a:extLst>
          </p:cNvPr>
          <p:cNvSpPr txBox="1"/>
          <p:nvPr/>
        </p:nvSpPr>
        <p:spPr>
          <a:xfrm>
            <a:off x="2426058" y="182623"/>
            <a:ext cx="653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                                              </a:t>
            </a:r>
            <a:r>
              <a:rPr lang="it-IT" b="1">
                <a:solidFill>
                  <a:srgbClr val="FF0000"/>
                </a:solidFill>
              </a:rPr>
              <a:t>CINEMA WEB APP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76E193B-0C52-8A3B-7796-F0CF58C5BB33}"/>
              </a:ext>
            </a:extLst>
          </p:cNvPr>
          <p:cNvSpPr txBox="1"/>
          <p:nvPr/>
        </p:nvSpPr>
        <p:spPr>
          <a:xfrm>
            <a:off x="4052460" y="1376798"/>
            <a:ext cx="352131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b="1" dirty="0">
                <a:cs typeface="Calibri"/>
              </a:rPr>
              <a:t>Compila il </a:t>
            </a:r>
            <a:r>
              <a:rPr lang="it-IT" sz="1600" b="1" dirty="0" err="1">
                <a:cs typeface="Calibri"/>
              </a:rPr>
              <a:t>form</a:t>
            </a:r>
            <a:r>
              <a:rPr lang="it-IT" sz="1600" b="1" dirty="0">
                <a:cs typeface="Calibri"/>
              </a:rPr>
              <a:t> di registrazione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D4BE199-AB18-0FD6-DA29-DAEE123466C8}"/>
              </a:ext>
            </a:extLst>
          </p:cNvPr>
          <p:cNvSpPr/>
          <p:nvPr/>
        </p:nvSpPr>
        <p:spPr>
          <a:xfrm>
            <a:off x="4068097" y="2199967"/>
            <a:ext cx="2777612" cy="319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E50E3A4-64BB-CFE1-AA90-00AE0775BDDA}"/>
              </a:ext>
            </a:extLst>
          </p:cNvPr>
          <p:cNvSpPr/>
          <p:nvPr/>
        </p:nvSpPr>
        <p:spPr>
          <a:xfrm>
            <a:off x="4068096" y="2882078"/>
            <a:ext cx="2777612" cy="319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it-IT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D84A479-FD52-46ED-E593-8CE395D40885}"/>
              </a:ext>
            </a:extLst>
          </p:cNvPr>
          <p:cNvSpPr txBox="1"/>
          <p:nvPr/>
        </p:nvSpPr>
        <p:spPr>
          <a:xfrm>
            <a:off x="3982064" y="1935726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1100" dirty="0">
                <a:cs typeface="Calibri"/>
              </a:rPr>
              <a:t>Nome*</a:t>
            </a:r>
            <a:endParaRPr lang="it-IT" sz="11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BE77D7F-3C60-B118-0267-99C8C047D808}"/>
              </a:ext>
            </a:extLst>
          </p:cNvPr>
          <p:cNvSpPr txBox="1"/>
          <p:nvPr/>
        </p:nvSpPr>
        <p:spPr>
          <a:xfrm>
            <a:off x="3982063" y="3785420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1100" dirty="0">
                <a:cs typeface="Calibri"/>
              </a:rPr>
              <a:t>Password*</a:t>
            </a:r>
            <a:endParaRPr lang="it-IT" sz="1100" dirty="0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9F065204-65DE-3FF9-8AF3-D48BE526EE0C}"/>
              </a:ext>
            </a:extLst>
          </p:cNvPr>
          <p:cNvSpPr/>
          <p:nvPr/>
        </p:nvSpPr>
        <p:spPr>
          <a:xfrm>
            <a:off x="4559708" y="4756353"/>
            <a:ext cx="1351935" cy="2949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cs typeface="Calibri"/>
              </a:rPr>
              <a:t>Conferma</a:t>
            </a: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DB75240-E530-583D-88B0-9D1F48AC8BB4}"/>
              </a:ext>
            </a:extLst>
          </p:cNvPr>
          <p:cNvSpPr/>
          <p:nvPr/>
        </p:nvSpPr>
        <p:spPr>
          <a:xfrm>
            <a:off x="4068095" y="3428998"/>
            <a:ext cx="2777612" cy="319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it-IT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048B359-4CCA-BEDC-2908-98E23A3160A6}"/>
              </a:ext>
            </a:extLst>
          </p:cNvPr>
          <p:cNvSpPr/>
          <p:nvPr/>
        </p:nvSpPr>
        <p:spPr>
          <a:xfrm>
            <a:off x="4068096" y="4049659"/>
            <a:ext cx="2777612" cy="319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it-IT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07FCC0D-F2CE-7303-A082-2D37C7FAFC75}"/>
              </a:ext>
            </a:extLst>
          </p:cNvPr>
          <p:cNvSpPr txBox="1"/>
          <p:nvPr/>
        </p:nvSpPr>
        <p:spPr>
          <a:xfrm>
            <a:off x="3982062" y="3201629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1100" dirty="0">
                <a:cs typeface="Calibri"/>
              </a:rPr>
              <a:t>Email*</a:t>
            </a:r>
            <a:endParaRPr lang="it-IT" sz="11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C077090-1AFC-1157-DB74-45785AFEBF15}"/>
              </a:ext>
            </a:extLst>
          </p:cNvPr>
          <p:cNvSpPr txBox="1"/>
          <p:nvPr/>
        </p:nvSpPr>
        <p:spPr>
          <a:xfrm>
            <a:off x="3982063" y="2617839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1100" dirty="0">
                <a:cs typeface="Calibri"/>
              </a:rPr>
              <a:t>Cognome*</a:t>
            </a:r>
            <a:endParaRPr lang="it-IT" sz="1100" dirty="0"/>
          </a:p>
        </p:txBody>
      </p:sp>
      <p:sp>
        <p:nvSpPr>
          <p:cNvPr id="18" name="Callout: freccia in giù 17">
            <a:extLst>
              <a:ext uri="{FF2B5EF4-FFF2-40B4-BE49-F238E27FC236}">
                <a16:creationId xmlns:a16="http://schemas.microsoft.com/office/drawing/2014/main" id="{9B92F672-4C88-B4DC-F095-21C0B949AEB7}"/>
              </a:ext>
            </a:extLst>
          </p:cNvPr>
          <p:cNvSpPr/>
          <p:nvPr/>
        </p:nvSpPr>
        <p:spPr>
          <a:xfrm>
            <a:off x="4565855" y="5383161"/>
            <a:ext cx="1333499" cy="700548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3C17A80-293F-11E5-86EE-1E8EA61F83B6}"/>
              </a:ext>
            </a:extLst>
          </p:cNvPr>
          <p:cNvSpPr txBox="1"/>
          <p:nvPr/>
        </p:nvSpPr>
        <p:spPr>
          <a:xfrm>
            <a:off x="4320047" y="6225049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dirty="0">
                <a:cs typeface="Calibri"/>
              </a:rPr>
              <a:t>Registrazione Effettuata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1943110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6F70E13-B82A-7EDC-1646-B52EDAE7385F}"/>
              </a:ext>
            </a:extLst>
          </p:cNvPr>
          <p:cNvSpPr/>
          <p:nvPr/>
        </p:nvSpPr>
        <p:spPr>
          <a:xfrm>
            <a:off x="1022180" y="731866"/>
            <a:ext cx="9089229" cy="3557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u="sng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</a:t>
            </a:r>
            <a:r>
              <a:rPr lang="it-IT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</a:t>
            </a:r>
            <a:r>
              <a:rPr lang="it-IT" u="sng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Calendario Uscite </a:t>
            </a:r>
            <a:r>
              <a:rPr lang="it-IT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it-IT" u="sng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ACF366-9736-8753-9E86-A8A9CC82FEF8}"/>
              </a:ext>
            </a:extLst>
          </p:cNvPr>
          <p:cNvSpPr txBox="1"/>
          <p:nvPr/>
        </p:nvSpPr>
        <p:spPr>
          <a:xfrm>
            <a:off x="2426058" y="182623"/>
            <a:ext cx="653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                                              </a:t>
            </a:r>
            <a:r>
              <a:rPr lang="it-IT" b="1">
                <a:solidFill>
                  <a:srgbClr val="FF0000"/>
                </a:solidFill>
              </a:rPr>
              <a:t>CINEMA WEB APP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BF810C1-9DEC-1046-A97E-7C0D918D5576}"/>
              </a:ext>
            </a:extLst>
          </p:cNvPr>
          <p:cNvSpPr txBox="1"/>
          <p:nvPr/>
        </p:nvSpPr>
        <p:spPr>
          <a:xfrm>
            <a:off x="4213511" y="6462073"/>
            <a:ext cx="3327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/>
              <a:t>2024 </a:t>
            </a:r>
            <a:r>
              <a:rPr lang="it-IT" sz="1600" err="1"/>
              <a:t>Cinemawebapp</a:t>
            </a:r>
            <a:r>
              <a:rPr lang="it-IT" sz="1600"/>
              <a:t> </a:t>
            </a:r>
            <a:r>
              <a:rPr lang="it-IT" sz="1600" err="1"/>
              <a:t>Srl</a:t>
            </a:r>
            <a:endParaRPr lang="it-IT" sz="160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4BD34D9-701C-A713-4D19-63E59E405707}"/>
              </a:ext>
            </a:extLst>
          </p:cNvPr>
          <p:cNvSpPr/>
          <p:nvPr/>
        </p:nvSpPr>
        <p:spPr>
          <a:xfrm>
            <a:off x="4801279" y="1714715"/>
            <a:ext cx="1762813" cy="2166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solidFill>
                  <a:srgbClr val="FF0000"/>
                </a:solidFill>
                <a:ea typeface="Calibri"/>
                <a:cs typeface="Calibri"/>
              </a:rPr>
              <a:t>Drammatico</a:t>
            </a:r>
          </a:p>
        </p:txBody>
      </p:sp>
      <p:pic>
        <p:nvPicPr>
          <p:cNvPr id="3" name="Immagine 2" descr="Immagine che contiene testo, Viso umano, uomo, vestiti&#10;&#10;Descrizione generata automaticamente">
            <a:extLst>
              <a:ext uri="{FF2B5EF4-FFF2-40B4-BE49-F238E27FC236}">
                <a16:creationId xmlns:a16="http://schemas.microsoft.com/office/drawing/2014/main" id="{6D117107-4194-5249-B073-652BB8E9E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744" y="3004088"/>
            <a:ext cx="2238375" cy="3200400"/>
          </a:xfrm>
          <a:prstGeom prst="rect">
            <a:avLst/>
          </a:prstGeom>
        </p:spPr>
      </p:pic>
      <p:pic>
        <p:nvPicPr>
          <p:cNvPr id="4" name="Immagine 3" descr="Immagine che contiene testo, poster, Copertina del libro, romanzo&#10;&#10;Descrizione generata automaticamente">
            <a:extLst>
              <a:ext uri="{FF2B5EF4-FFF2-40B4-BE49-F238E27FC236}">
                <a16:creationId xmlns:a16="http://schemas.microsoft.com/office/drawing/2014/main" id="{A987E841-1516-6FC1-75FD-D19AF535B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813" y="2936524"/>
            <a:ext cx="2351263" cy="3334454"/>
          </a:xfrm>
          <a:prstGeom prst="rect">
            <a:avLst/>
          </a:prstGeom>
        </p:spPr>
      </p:pic>
      <p:pic>
        <p:nvPicPr>
          <p:cNvPr id="6" name="Immagine 5" descr="Immagine che contiene testo, Viso umano, poster, schermata&#10;&#10;Descrizione generata automaticamente">
            <a:extLst>
              <a:ext uri="{FF2B5EF4-FFF2-40B4-BE49-F238E27FC236}">
                <a16:creationId xmlns:a16="http://schemas.microsoft.com/office/drawing/2014/main" id="{874FB048-AE07-C5DD-3E09-403908FB5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035" y="2844800"/>
            <a:ext cx="2442985" cy="3440288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F05AA27-DD25-CCFB-6514-CFEA9F464641}"/>
              </a:ext>
            </a:extLst>
          </p:cNvPr>
          <p:cNvSpPr txBox="1"/>
          <p:nvPr/>
        </p:nvSpPr>
        <p:spPr>
          <a:xfrm>
            <a:off x="1020580" y="2625777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>
                <a:cs typeface="Calibri"/>
              </a:rPr>
              <a:t>Image </a:t>
            </a:r>
            <a:r>
              <a:rPr lang="it-IT" sz="1400" b="1" err="1">
                <a:cs typeface="Calibri"/>
              </a:rPr>
              <a:t>json</a:t>
            </a:r>
            <a:endParaRPr lang="it-IT" err="1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76E193B-0C52-8A3B-7796-F0CF58C5BB33}"/>
              </a:ext>
            </a:extLst>
          </p:cNvPr>
          <p:cNvSpPr txBox="1"/>
          <p:nvPr/>
        </p:nvSpPr>
        <p:spPr>
          <a:xfrm>
            <a:off x="4212235" y="2532088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>
                <a:cs typeface="Calibri"/>
              </a:rPr>
              <a:t>Image </a:t>
            </a:r>
            <a:r>
              <a:rPr lang="it-IT" sz="1400" b="1" err="1">
                <a:cs typeface="Calibri"/>
              </a:rPr>
              <a:t>json</a:t>
            </a:r>
            <a:endParaRPr lang="it-IT" err="1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36F93FF-BD4D-CBAC-48F0-0744652DAB7A}"/>
              </a:ext>
            </a:extLst>
          </p:cNvPr>
          <p:cNvSpPr txBox="1"/>
          <p:nvPr/>
        </p:nvSpPr>
        <p:spPr>
          <a:xfrm>
            <a:off x="7547547" y="2469629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>
                <a:cs typeface="Calibri"/>
              </a:rPr>
              <a:t>Image </a:t>
            </a:r>
            <a:r>
              <a:rPr lang="it-IT" sz="1400" b="1" err="1">
                <a:cs typeface="Calibri"/>
              </a:rPr>
              <a:t>json</a:t>
            </a:r>
            <a:endParaRPr lang="it-IT" err="1"/>
          </a:p>
        </p:txBody>
      </p:sp>
      <p:sp>
        <p:nvSpPr>
          <p:cNvPr id="8" name="Connettore 7">
            <a:extLst>
              <a:ext uri="{FF2B5EF4-FFF2-40B4-BE49-F238E27FC236}">
                <a16:creationId xmlns:a16="http://schemas.microsoft.com/office/drawing/2014/main" id="{E6A1EDEF-5DCD-721F-2499-55236782FDFB}"/>
              </a:ext>
            </a:extLst>
          </p:cNvPr>
          <p:cNvSpPr/>
          <p:nvPr/>
        </p:nvSpPr>
        <p:spPr>
          <a:xfrm>
            <a:off x="11270226" y="645241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AC52C0C-5067-D95F-C434-A78DA947AD87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solidFill>
                  <a:srgbClr val="FFFFFF"/>
                </a:solidFill>
                <a:cs typeface="Calibri"/>
              </a:rPr>
              <a:t>Logout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0453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6F70E13-B82A-7EDC-1646-B52EDAE7385F}"/>
              </a:ext>
            </a:extLst>
          </p:cNvPr>
          <p:cNvSpPr/>
          <p:nvPr/>
        </p:nvSpPr>
        <p:spPr>
          <a:xfrm>
            <a:off x="811635" y="1188205"/>
            <a:ext cx="9386731" cy="3769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u="sng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</a:t>
            </a:r>
            <a:r>
              <a:rPr lang="it-IT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</a:t>
            </a:r>
            <a:r>
              <a:rPr lang="it-IT" u="sng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Calendario Uscite </a:t>
            </a:r>
            <a:r>
              <a:rPr lang="it-IT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it-IT" u="sng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ACF366-9736-8753-9E86-A8A9CC82FEF8}"/>
              </a:ext>
            </a:extLst>
          </p:cNvPr>
          <p:cNvSpPr txBox="1"/>
          <p:nvPr/>
        </p:nvSpPr>
        <p:spPr>
          <a:xfrm>
            <a:off x="2418047" y="255029"/>
            <a:ext cx="653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                                        </a:t>
            </a:r>
            <a:r>
              <a:rPr lang="it-IT" b="1">
                <a:solidFill>
                  <a:srgbClr val="FF0000"/>
                </a:solidFill>
              </a:rPr>
              <a:t>CINEMA WEB APP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BF810C1-9DEC-1046-A97E-7C0D918D5576}"/>
              </a:ext>
            </a:extLst>
          </p:cNvPr>
          <p:cNvSpPr txBox="1"/>
          <p:nvPr/>
        </p:nvSpPr>
        <p:spPr>
          <a:xfrm>
            <a:off x="4213511" y="6462073"/>
            <a:ext cx="3327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/>
              <a:t>2024 </a:t>
            </a:r>
            <a:r>
              <a:rPr lang="it-IT" sz="1600" err="1"/>
              <a:t>Cinemawebapp</a:t>
            </a:r>
            <a:r>
              <a:rPr lang="it-IT" sz="1600"/>
              <a:t> </a:t>
            </a:r>
            <a:r>
              <a:rPr lang="it-IT" sz="1600" err="1"/>
              <a:t>Srl</a:t>
            </a:r>
            <a:endParaRPr lang="it-IT" sz="160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6F5D516-AC9E-C0E9-C431-35B33524F95C}"/>
              </a:ext>
            </a:extLst>
          </p:cNvPr>
          <p:cNvSpPr/>
          <p:nvPr/>
        </p:nvSpPr>
        <p:spPr>
          <a:xfrm>
            <a:off x="4627569" y="1862359"/>
            <a:ext cx="1762813" cy="2166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solidFill>
                  <a:srgbClr val="FF0000"/>
                </a:solidFill>
                <a:ea typeface="Calibri"/>
                <a:cs typeface="Calibri"/>
              </a:rPr>
              <a:t>Sentimentale</a:t>
            </a:r>
            <a:endParaRPr lang="it-IT">
              <a:solidFill>
                <a:srgbClr val="FF0000"/>
              </a:solidFill>
            </a:endParaRPr>
          </a:p>
        </p:txBody>
      </p:sp>
      <p:pic>
        <p:nvPicPr>
          <p:cNvPr id="2" name="Immagine 1" descr="Immagine che contiene testo, uomo, vestiti, libro&#10;&#10;Descrizione generata automaticamente">
            <a:extLst>
              <a:ext uri="{FF2B5EF4-FFF2-40B4-BE49-F238E27FC236}">
                <a16:creationId xmlns:a16="http://schemas.microsoft.com/office/drawing/2014/main" id="{777FE2D4-0B23-1F1C-9F94-49888DE04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42" y="2816817"/>
            <a:ext cx="2367527" cy="3387671"/>
          </a:xfrm>
          <a:prstGeom prst="rect">
            <a:avLst/>
          </a:prstGeom>
        </p:spPr>
      </p:pic>
      <p:pic>
        <p:nvPicPr>
          <p:cNvPr id="4" name="Immagine 3" descr="Immagine che contiene testo, ciglio, organo, occhi&#10;&#10;Descrizione generata automaticamente">
            <a:extLst>
              <a:ext uri="{FF2B5EF4-FFF2-40B4-BE49-F238E27FC236}">
                <a16:creationId xmlns:a16="http://schemas.microsoft.com/office/drawing/2014/main" id="{A8FFF0BD-360F-5FAD-03FF-4C57B9846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931" y="2745783"/>
            <a:ext cx="2496680" cy="3497451"/>
          </a:xfrm>
          <a:prstGeom prst="rect">
            <a:avLst/>
          </a:prstGeom>
        </p:spPr>
      </p:pic>
      <p:pic>
        <p:nvPicPr>
          <p:cNvPr id="6" name="Immagine 5" descr="Immagine che contiene testo, vestiti, persona, Viso umano&#10;&#10;Descrizione generata automaticamente">
            <a:extLst>
              <a:ext uri="{FF2B5EF4-FFF2-40B4-BE49-F238E27FC236}">
                <a16:creationId xmlns:a16="http://schemas.microsoft.com/office/drawing/2014/main" id="{2BD652B8-093F-C44F-1E61-FB6E32CF1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2" y="2771615"/>
            <a:ext cx="2490222" cy="347162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8964C286-04CE-D88B-4AC4-A8A1694B5599}"/>
              </a:ext>
            </a:extLst>
          </p:cNvPr>
          <p:cNvSpPr txBox="1"/>
          <p:nvPr/>
        </p:nvSpPr>
        <p:spPr>
          <a:xfrm>
            <a:off x="720777" y="2432154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>
                <a:cs typeface="Calibri"/>
              </a:rPr>
              <a:t>Image </a:t>
            </a:r>
            <a:r>
              <a:rPr lang="it-IT" sz="1400" b="1" err="1">
                <a:cs typeface="Calibri"/>
              </a:rPr>
              <a:t>json</a:t>
            </a:r>
            <a:endParaRPr lang="it-IT" err="1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578C570-6966-913C-B0E0-6F6A9428CB79}"/>
              </a:ext>
            </a:extLst>
          </p:cNvPr>
          <p:cNvSpPr txBox="1"/>
          <p:nvPr/>
        </p:nvSpPr>
        <p:spPr>
          <a:xfrm>
            <a:off x="4112301" y="2276006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>
                <a:cs typeface="Calibri"/>
              </a:rPr>
              <a:t>Image </a:t>
            </a:r>
            <a:r>
              <a:rPr lang="it-IT" sz="1400" b="1" err="1">
                <a:cs typeface="Calibri"/>
              </a:rPr>
              <a:t>json</a:t>
            </a:r>
            <a:endParaRPr lang="it-IT" err="1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D3740C9-8B53-926F-C5E9-C7DBA6E4B823}"/>
              </a:ext>
            </a:extLst>
          </p:cNvPr>
          <p:cNvSpPr txBox="1"/>
          <p:nvPr/>
        </p:nvSpPr>
        <p:spPr>
          <a:xfrm>
            <a:off x="7703695" y="2276006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>
                <a:cs typeface="Calibri"/>
              </a:rPr>
              <a:t>Image </a:t>
            </a:r>
            <a:r>
              <a:rPr lang="it-IT" sz="1400" b="1" err="1">
                <a:cs typeface="Calibri"/>
              </a:rPr>
              <a:t>json</a:t>
            </a:r>
            <a:endParaRPr lang="it-IT" err="1"/>
          </a:p>
        </p:txBody>
      </p:sp>
      <p:sp>
        <p:nvSpPr>
          <p:cNvPr id="9" name="Connettore 8">
            <a:extLst>
              <a:ext uri="{FF2B5EF4-FFF2-40B4-BE49-F238E27FC236}">
                <a16:creationId xmlns:a16="http://schemas.microsoft.com/office/drawing/2014/main" id="{38B2DE3D-1BF3-B5F0-74E8-8BC42A1AF6BF}"/>
              </a:ext>
            </a:extLst>
          </p:cNvPr>
          <p:cNvSpPr/>
          <p:nvPr/>
        </p:nvSpPr>
        <p:spPr>
          <a:xfrm>
            <a:off x="11282516" y="1112273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61815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  <a:cs typeface="Calibri"/>
              </a:rPr>
              <a:t>Trama</a:t>
            </a:r>
            <a:endParaRPr lang="it-IT" b="1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Immagine che contiene persona, Viso umano, Accessorio di moda, vestiti&#10;&#10;Descrizione generata automaticamente">
            <a:extLst>
              <a:ext uri="{FF2B5EF4-FFF2-40B4-BE49-F238E27FC236}">
                <a16:creationId xmlns:a16="http://schemas.microsoft.com/office/drawing/2014/main" id="{1FAE887A-E5BB-0D0A-7695-72C184222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127" y="2181149"/>
            <a:ext cx="5631052" cy="345884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151661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</a:t>
            </a:r>
            <a:r>
              <a:rPr lang="it-IT" b="1">
                <a:latin typeface="Calibri"/>
                <a:cs typeface="Calibri"/>
              </a:rPr>
              <a:t>     Testo descrizione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045480" y="1047164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</a:t>
            </a:r>
            <a:r>
              <a:rPr lang="it-IT" b="1">
                <a:latin typeface="Calibri"/>
                <a:cs typeface="Calibri"/>
              </a:rPr>
              <a:t> Titolo trama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1400" b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 </a:t>
            </a:r>
            <a:r>
              <a:rPr lang="it-IT" sz="1600" b="1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C6F459F-0A6C-A4D1-0A2A-1BBD6BFE7BE7}"/>
              </a:ext>
            </a:extLst>
          </p:cNvPr>
          <p:cNvSpPr txBox="1"/>
          <p:nvPr/>
        </p:nvSpPr>
        <p:spPr>
          <a:xfrm>
            <a:off x="3899941" y="1713875"/>
            <a:ext cx="29555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Immagine Trama </a:t>
            </a:r>
            <a:r>
              <a:rPr lang="it-IT" sz="1400" b="1" err="1">
                <a:cs typeface="Calibri"/>
              </a:rPr>
              <a:t>json</a:t>
            </a:r>
            <a:endParaRPr lang="it-IT" sz="1400" err="1"/>
          </a:p>
        </p:txBody>
      </p:sp>
    </p:spTree>
    <p:extLst>
      <p:ext uri="{BB962C8B-B14F-4D97-AF65-F5344CB8AC3E}">
        <p14:creationId xmlns:p14="http://schemas.microsoft.com/office/powerpoint/2010/main" val="1096529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EC0EC7-05BB-62A3-A639-95309920F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759" y="280503"/>
            <a:ext cx="10515600" cy="1325563"/>
          </a:xfrm>
          <a:noFill/>
        </p:spPr>
        <p:txBody>
          <a:bodyPr>
            <a:normAutofit/>
          </a:bodyPr>
          <a:lstStyle/>
          <a:p>
            <a:r>
              <a:rPr lang="it-IT" sz="2800">
                <a:latin typeface="Arial Narrow"/>
              </a:rPr>
              <a:t>Campo di Battaglia</a:t>
            </a:r>
            <a:r>
              <a:rPr lang="it-IT" sz="2800" i="0">
                <a:effectLst/>
                <a:latin typeface="Arial Narrow"/>
              </a:rPr>
              <a:t>: </a:t>
            </a:r>
            <a:r>
              <a:rPr lang="it-IT" sz="2800">
                <a:latin typeface="Arial Narrow"/>
              </a:rPr>
              <a:t>La trama </a:t>
            </a:r>
            <a:r>
              <a:rPr lang="it-IT" sz="2800" i="0">
                <a:effectLst/>
                <a:latin typeface="Arial Narrow"/>
              </a:rPr>
              <a:t>del film </a:t>
            </a:r>
            <a:r>
              <a:rPr lang="it-IT" sz="2800">
                <a:latin typeface="Arial Narrow"/>
              </a:rPr>
              <a:t>di Gianni Amelio</a:t>
            </a:r>
            <a:br>
              <a:rPr lang="it-IT" b="1" i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4B2852-2508-BD32-6F1B-7129D239D486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Campo di Battaglia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il film diretto da Gianni Amelio, è ambientato sul finire della Prima Guerra Mondiale.</a:t>
            </a: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Due ufficiali medici, amici d’infanzia lavorano nello stesso ospedale militare, dove ogni giorno arrivano dal fronte i feriti più gravi.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Molti di loro però si sono procurati da soli le ferite, sono dei simulatori, che farebbero di tutto per non tornare a combattere.</a:t>
            </a: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Stefano (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Gabriel Montesi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), di famiglia altoborghese, con un padre che sogna per lui un avvenire in politica, è ossessionato da questi autolesionisti e, oltre che il medico, fa a suo modo lo sbirro.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Giulio (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Alessandro Borghi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), apparentemente più comprensivo e tollerante, non si trova a proprio agio alla vista del sangue, è più portato verso la ricerca, avrebbe voluto diventare un biologo.</a:t>
            </a: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Anna (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Federica Rosellini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), amica di entrambi dai tempi dell’università, sconta il fatto di essere donna. A quei tempi, senza una famiglia influente alle spalle, era difficile arrivare a una laurea in medicina. Ma lei affronta con grinta un lavoro duro e volontario alla Croce Rossa.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Qualcosa di strano accade intanto tra i malati: molti si aggravano misteriosamente. Forse c’è qualcuno che provoca di proposito delle complicazioni alle loro ferite, perché i soldati vengano mandati a casa, anche storpi, anche mutilati, purché non tornino in battaglia.</a:t>
            </a: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C'è dunque un sabotatore dentro l'ospedale, di cui Anna è la prima a sospettare.</a:t>
            </a: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Ma sul fronte di guerra, proprio verso la fine del conflitto, si diffonde una specie di infezione che colpisce più delle armi nemiche. E presto contagia anche la popolazione civile...</a:t>
            </a:r>
            <a:endParaRPr lang="it-IT"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5940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  <a:cs typeface="Calibri"/>
              </a:rPr>
              <a:t>Trama</a:t>
            </a:r>
            <a:endParaRPr lang="it-IT" b="1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276579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</a:t>
            </a:r>
            <a:r>
              <a:rPr lang="it-IT" b="1">
                <a:latin typeface="Calibri"/>
                <a:cs typeface="Calibri"/>
              </a:rPr>
              <a:t> Testo descrizione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276578" y="1059656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</a:t>
            </a:r>
            <a:r>
              <a:rPr lang="it-IT" b="1">
                <a:latin typeface="Calibri"/>
                <a:cs typeface="Calibri"/>
              </a:rPr>
              <a:t>    Titolo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 </a:t>
            </a:r>
            <a:r>
              <a:rPr lang="it-IT" sz="1600" b="1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pic>
        <p:nvPicPr>
          <p:cNvPr id="2" name="Immagine 1" descr="Immagine che contiene aria aperta, pianta, erba, albero&#10;&#10;Descrizione generata automaticamente">
            <a:extLst>
              <a:ext uri="{FF2B5EF4-FFF2-40B4-BE49-F238E27FC236}">
                <a16:creationId xmlns:a16="http://schemas.microsoft.com/office/drawing/2014/main" id="{7D935D15-99AA-9172-CA7D-09A43DFCF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246" y="2368315"/>
            <a:ext cx="6096000" cy="343301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0B990CB-4FF3-2BA8-3B5A-46D2219913F0}"/>
              </a:ext>
            </a:extLst>
          </p:cNvPr>
          <p:cNvSpPr txBox="1"/>
          <p:nvPr/>
        </p:nvSpPr>
        <p:spPr>
          <a:xfrm>
            <a:off x="3276577" y="1909097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</a:t>
            </a:r>
            <a:r>
              <a:rPr lang="it-IT" b="1">
                <a:latin typeface="Calibri"/>
                <a:cs typeface="Calibri"/>
              </a:rPr>
              <a:t>    Immagine 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8419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0C6C88-73C2-0E1B-BDA5-0910178C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1" y="365125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 err="1">
                <a:latin typeface="Arial Narrow"/>
                <a:cs typeface="Arial"/>
              </a:rPr>
              <a:t>Never</a:t>
            </a:r>
            <a:r>
              <a:rPr lang="it-IT" sz="2800">
                <a:latin typeface="Arial Narrow"/>
                <a:cs typeface="Arial"/>
              </a:rPr>
              <a:t> </a:t>
            </a:r>
            <a:r>
              <a:rPr lang="it-IT" sz="2800" err="1">
                <a:latin typeface="Arial Narrow"/>
                <a:cs typeface="Arial"/>
              </a:rPr>
              <a:t>Let</a:t>
            </a:r>
            <a:r>
              <a:rPr lang="it-IT" sz="2800">
                <a:latin typeface="Arial Narrow"/>
                <a:cs typeface="Arial"/>
              </a:rPr>
              <a:t> Go-A Un Passo Dal Male</a:t>
            </a:r>
            <a:r>
              <a:rPr lang="it-IT" sz="2800">
                <a:latin typeface="Arial Narrow"/>
              </a:rPr>
              <a:t>: la trama del film di Alexandre Aja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54B2F9-7281-8E34-B0BE-3E382B3B8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311" y="1938514"/>
            <a:ext cx="10515600" cy="4351338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Never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Let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 Go - A un Passo dal Male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il film diretto da Alexandre Aja, racconta la storia di una madre (</a:t>
            </a:r>
            <a:r>
              <a:rPr lang="it-IT" sz="1400" b="1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Halle Berry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 che vive in una casa isolata nel bosco con i suoi due figli gemelli (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Percy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Daggs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 IV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Anthony B. Jenkins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).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Sono convinti di essere circondati da spiriti maligni e che la casa sia l'unico luogo dove sono al sicuro. Quando devono allontanarsi, ognuno di loro indossa una lunga corda che lo tiene sempre legato alla casa. In questo modo i demoni del bosco non possono far loro del male.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Ma quando uno dei bambini inizia a dubitare dell'esistenza degli spiriti, la sua corda si spezza mettendo in pericolo la sua vita e quella di tutta la famiglia. Inizia allora una terrificante lotta per la sopravvivenza...</a:t>
            </a:r>
            <a:endParaRPr lang="it-IT"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8042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  <a:cs typeface="Calibri"/>
              </a:rPr>
              <a:t>Trama</a:t>
            </a:r>
            <a:endParaRPr lang="it-IT" b="1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276579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</a:t>
            </a:r>
            <a:r>
              <a:rPr lang="it-IT" b="1">
                <a:latin typeface="Calibri"/>
                <a:cs typeface="Calibri"/>
              </a:rPr>
              <a:t> Testo descrizione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276578" y="103467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</a:t>
            </a:r>
            <a:r>
              <a:rPr lang="it-IT" b="1">
                <a:latin typeface="Calibri"/>
                <a:cs typeface="Calibri"/>
              </a:rPr>
              <a:t>  Titolo trama</a:t>
            </a:r>
            <a:r>
              <a:rPr lang="it-IT" sz="20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 </a:t>
            </a:r>
            <a:r>
              <a:rPr lang="it-IT" sz="1600" b="1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pic>
        <p:nvPicPr>
          <p:cNvPr id="5" name="Immagine 4" descr="Immagine che contiene persona, Viso umano, bacio, Amore&#10;&#10;Descrizione generata automaticamente">
            <a:extLst>
              <a:ext uri="{FF2B5EF4-FFF2-40B4-BE49-F238E27FC236}">
                <a16:creationId xmlns:a16="http://schemas.microsoft.com/office/drawing/2014/main" id="{B077E1E2-4925-F447-8C73-CDD93DEF0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362068"/>
            <a:ext cx="6096000" cy="343301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019D8C9-9E12-54A7-B551-CEFDB06BA47F}"/>
              </a:ext>
            </a:extLst>
          </p:cNvPr>
          <p:cNvSpPr txBox="1"/>
          <p:nvPr/>
        </p:nvSpPr>
        <p:spPr>
          <a:xfrm>
            <a:off x="3272830" y="1899105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</a:t>
            </a:r>
            <a:r>
              <a:rPr lang="it-IT" b="1">
                <a:latin typeface="Calibri"/>
                <a:cs typeface="Calibri"/>
              </a:rPr>
              <a:t> Immagine 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753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A048EA-2267-0170-8CB9-30FA5166F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615" y="195058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it-IT" sz="3100" b="1" i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r>
              <a:rPr lang="it-IT" sz="3100">
                <a:latin typeface="Arial Narrow"/>
              </a:rPr>
              <a:t>Joker-</a:t>
            </a:r>
            <a:r>
              <a:rPr lang="it-IT" sz="3100" err="1">
                <a:latin typeface="Arial Narrow"/>
              </a:rPr>
              <a:t>Folie</a:t>
            </a:r>
            <a:r>
              <a:rPr lang="it-IT" sz="3100">
                <a:latin typeface="Arial Narrow"/>
              </a:rPr>
              <a:t> à </a:t>
            </a:r>
            <a:r>
              <a:rPr lang="it-IT" sz="3100" err="1">
                <a:latin typeface="Arial Narrow"/>
              </a:rPr>
              <a:t>Deux</a:t>
            </a:r>
            <a:r>
              <a:rPr lang="it-IT" sz="3100" i="0">
                <a:effectLst/>
                <a:latin typeface="Arial Narrow"/>
              </a:rPr>
              <a:t>: la </a:t>
            </a:r>
            <a:r>
              <a:rPr lang="it-IT" sz="3100">
                <a:latin typeface="Arial Narrow"/>
              </a:rPr>
              <a:t>trama </a:t>
            </a:r>
            <a:r>
              <a:rPr lang="it-IT" sz="3100" i="0">
                <a:effectLst/>
                <a:latin typeface="Arial Narrow"/>
              </a:rPr>
              <a:t>del film </a:t>
            </a:r>
            <a:r>
              <a:rPr lang="it-IT" sz="3100">
                <a:latin typeface="Arial Narrow"/>
              </a:rPr>
              <a:t>di Todd Philips</a:t>
            </a:r>
            <a:br>
              <a:rPr lang="it-IT" b="1" i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endParaRPr lang="it-IT">
              <a:gradFill>
                <a:gsLst>
                  <a:gs pos="0">
                    <a:schemeClr val="bg1"/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B08840-4573-948E-D3AC-441F85A0B73D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bg1"/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Erano tutti Joker, una rivoluzione di mascherati pronti a cavalcare il male di vivere di un individuo,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Arthur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Fleck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invadendo le strade. 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Così li avevamo lasciati, alla fine del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primo Joker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di </a:t>
            </a:r>
            <a:r>
              <a:rPr lang="it-IT" sz="1400" b="1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Todd Phillips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esploso in mano anche a lui e diventato inatteso trionfo di critica oltre che di pubblico, con undici candidature all’Oscar, un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Leone d’oro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e la trasformazione dello scaltro autore di commedie alla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Una notte da leoni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in un front runner da festival e stagione dei premi. 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Ovviamente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l’interpretazione di quel talentaccio di </a:t>
            </a:r>
            <a:r>
              <a:rPr lang="it-IT" sz="1400" b="1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Joaquin Phoenix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 aveva aiutato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capace di rappresentare la sequela di drammi infantili e trasformarle in smorfie rabbiose, al sapore di sorrisi da folle, in età adulta.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A proposito di follie, qui le fanno in due, visto che la caratteristica principale di </a:t>
            </a:r>
            <a:r>
              <a:rPr lang="it-IT" sz="1400" b="1">
                <a:solidFill>
                  <a:srgbClr val="0065B4"/>
                </a:solidFill>
                <a:latin typeface="Calibri"/>
                <a:cs typeface="Arial"/>
                <a:hlinkClick r:id="rId4"/>
              </a:rPr>
              <a:t>Joker: Folie à deux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 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è che dalla dilatazione nelle strade della sua follia, questa volta si torna a rinchiuderla dove forse sarebbe meglio contenerla, in carcere, e sottoposta a processo.</a:t>
            </a:r>
            <a:endParaRPr lang="it-IT" sz="1400"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500"/>
              <a:t>.</a:t>
            </a:r>
            <a:endParaRPr lang="it-IT" sz="15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9743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  <a:cs typeface="Calibri"/>
              </a:rPr>
              <a:t>Trama</a:t>
            </a:r>
            <a:endParaRPr lang="it-IT" b="1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276579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</a:t>
            </a:r>
            <a:r>
              <a:rPr lang="it-IT" b="1">
                <a:latin typeface="Calibri"/>
                <a:cs typeface="Calibri"/>
              </a:rPr>
              <a:t>Testo descrizione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176644" y="1047164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</a:t>
            </a:r>
            <a:r>
              <a:rPr lang="it-IT" b="1">
                <a:latin typeface="Calibri"/>
                <a:cs typeface="Calibri"/>
              </a:rPr>
              <a:t>     Titolo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 </a:t>
            </a:r>
            <a:r>
              <a:rPr lang="it-IT" sz="1600" b="1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pic>
        <p:nvPicPr>
          <p:cNvPr id="2" name="Immagine 1" descr="Immagine che contiene vestiti, persona, Viso umano, Auricolari&#10;&#10;Descrizione generata automaticamente">
            <a:extLst>
              <a:ext uri="{FF2B5EF4-FFF2-40B4-BE49-F238E27FC236}">
                <a16:creationId xmlns:a16="http://schemas.microsoft.com/office/drawing/2014/main" id="{4E706EAA-3D8C-B680-6B11-E7FF65A2B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181" y="2462004"/>
            <a:ext cx="6096000" cy="343301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6485D41-0066-2026-BDB5-D65BE1145A6A}"/>
              </a:ext>
            </a:extLst>
          </p:cNvPr>
          <p:cNvSpPr txBox="1"/>
          <p:nvPr/>
        </p:nvSpPr>
        <p:spPr>
          <a:xfrm>
            <a:off x="3047978" y="1999039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 </a:t>
            </a:r>
            <a:r>
              <a:rPr lang="it-IT" b="1">
                <a:latin typeface="Calibri"/>
                <a:cs typeface="Calibri"/>
              </a:rPr>
              <a:t>Immagine 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8064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96DF56-913D-7BA8-904F-256528AC2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it-IT" sz="3100" i="0">
                <a:effectLst/>
                <a:latin typeface="Arial Narrow" panose="020B0606020202030204" pitchFamily="34" charset="0"/>
              </a:rPr>
            </a:br>
            <a:r>
              <a:rPr lang="it-IT" sz="3100" i="0">
                <a:solidFill>
                  <a:srgbClr val="333333"/>
                </a:solidFill>
                <a:effectLst/>
                <a:latin typeface="Arial Narrow"/>
              </a:rPr>
              <a:t>   </a:t>
            </a:r>
            <a:r>
              <a:rPr lang="it-IT" sz="3100">
                <a:solidFill>
                  <a:srgbClr val="333333"/>
                </a:solidFill>
                <a:latin typeface="Arial Narrow"/>
              </a:rPr>
              <a:t>Making Of</a:t>
            </a:r>
            <a:r>
              <a:rPr lang="it-IT" sz="3100" i="0">
                <a:solidFill>
                  <a:srgbClr val="333333"/>
                </a:solidFill>
                <a:effectLst/>
                <a:latin typeface="Arial Narrow"/>
              </a:rPr>
              <a:t>: la </a:t>
            </a:r>
            <a:r>
              <a:rPr lang="it-IT" sz="3100">
                <a:solidFill>
                  <a:srgbClr val="333333"/>
                </a:solidFill>
                <a:latin typeface="Arial Narrow"/>
              </a:rPr>
              <a:t>trama </a:t>
            </a:r>
            <a:r>
              <a:rPr lang="it-IT" sz="3100" i="0">
                <a:solidFill>
                  <a:srgbClr val="333333"/>
                </a:solidFill>
                <a:effectLst/>
                <a:latin typeface="Arial Narrow"/>
              </a:rPr>
              <a:t>del film di </a:t>
            </a:r>
            <a:r>
              <a:rPr lang="it-IT" sz="3100">
                <a:solidFill>
                  <a:srgbClr val="333333"/>
                </a:solidFill>
                <a:latin typeface="Arial Narrow"/>
              </a:rPr>
              <a:t>Denis </a:t>
            </a:r>
            <a:r>
              <a:rPr lang="it-IT" sz="3100" err="1">
                <a:solidFill>
                  <a:srgbClr val="333333"/>
                </a:solidFill>
                <a:latin typeface="Arial Narrow"/>
              </a:rPr>
              <a:t>Podalydès</a:t>
            </a:r>
            <a:br>
              <a:rPr lang="it-IT" b="1" i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br>
              <a:rPr lang="it-IT" b="1" i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Il protagonista di </a:t>
            </a:r>
            <a:r>
              <a:rPr lang="it-IT" sz="1400" b="1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Making Of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è Simon (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Denis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Podalydès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), un regista che è riuscito ad avviare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un film al quale tiene molto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: narra la vicenda di alcuni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operai che diventano proprietari della propria fabbrica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Sventuratamente le condizioni nelle quali il film viene realizzato non sono ottimali: un attore primadonna (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Jonathan Cohen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 non è molto controllabile, Simon stesso è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in crisi con la moglie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la troupe è arrogante, alcuni finanziatori si tirano indietro. A salvare la motivazione di Simon c'è la presenza del giovane Joseph (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Stefan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Crepon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), incaricato di girare un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backstage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di tutta la lavorazione: un testimone al margine (o quasi, visto che è innamorato dell'attrice coprotagonista Nadia), ma anche il depositario di quell'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entusiasmo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che Simon potrebbe riuscire a recuperare. In nome del cinema, in una fusione della realtà con la finzione. Presentato </a:t>
            </a:r>
            <a:r>
              <a:rPr lang="it-IT" sz="1400" err="1">
                <a:solidFill>
                  <a:srgbClr val="333333"/>
                </a:solidFill>
                <a:latin typeface="Calibri"/>
                <a:cs typeface="Arial"/>
              </a:rPr>
              <a:t>FuorI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 Concorso al Festival di Venezia 2023, Making Of arriva in Italia distribuito da I Wonder Pictures.</a:t>
            </a:r>
            <a:endParaRPr lang="it-IT"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4888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  <a:cs typeface="Calibri"/>
              </a:rPr>
              <a:t>Trama</a:t>
            </a:r>
            <a:endParaRPr lang="it-IT" b="1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276579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</a:t>
            </a:r>
            <a:r>
              <a:rPr lang="it-IT" sz="2000" b="1">
                <a:latin typeface="Calibri"/>
                <a:cs typeface="Calibri"/>
              </a:rPr>
              <a:t>      </a:t>
            </a:r>
            <a:r>
              <a:rPr lang="it-IT" b="1">
                <a:latin typeface="Calibri"/>
                <a:cs typeface="Calibri"/>
              </a:rPr>
              <a:t>Testo descrizione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err="1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276578" y="103467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</a:t>
            </a:r>
            <a:r>
              <a:rPr lang="it-IT" sz="2000" b="1">
                <a:latin typeface="Calibri"/>
                <a:cs typeface="Calibri"/>
              </a:rPr>
              <a:t>   </a:t>
            </a:r>
            <a:r>
              <a:rPr lang="it-IT" b="1">
                <a:latin typeface="Calibri"/>
                <a:cs typeface="Calibri"/>
              </a:rPr>
              <a:t>   Titolo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 </a:t>
            </a:r>
            <a:r>
              <a:rPr lang="it-IT" sz="1600" b="1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pic>
        <p:nvPicPr>
          <p:cNvPr id="5" name="Immagine 4" descr="Immagine che contiene vestiti, persona, muro, Viso umano&#10;&#10;Descrizione generata automaticamente">
            <a:extLst>
              <a:ext uri="{FF2B5EF4-FFF2-40B4-BE49-F238E27FC236}">
                <a16:creationId xmlns:a16="http://schemas.microsoft.com/office/drawing/2014/main" id="{701729F3-44F5-6AA8-D308-F04F3BF78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656" y="2518217"/>
            <a:ext cx="6096000" cy="343301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129FB6C-208B-411C-BF4C-78A2975D5DB7}"/>
              </a:ext>
            </a:extLst>
          </p:cNvPr>
          <p:cNvSpPr txBox="1"/>
          <p:nvPr/>
        </p:nvSpPr>
        <p:spPr>
          <a:xfrm>
            <a:off x="3272830" y="205525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</a:t>
            </a:r>
            <a:r>
              <a:rPr lang="it-IT" sz="2000" b="1">
                <a:latin typeface="Calibri"/>
                <a:cs typeface="Calibri"/>
              </a:rPr>
              <a:t>   </a:t>
            </a:r>
            <a:r>
              <a:rPr lang="it-IT" b="1">
                <a:latin typeface="Calibri"/>
                <a:cs typeface="Calibri"/>
              </a:rPr>
              <a:t>  Immagine 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1342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80FEAC-6458-E46F-84CD-CAD37F97C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514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>
                <a:latin typeface="Arial Narrow"/>
              </a:rPr>
              <a:t> Maria Montessori –La Nouvelle Femme: la trama del film di </a:t>
            </a:r>
            <a:r>
              <a:rPr lang="it-IT" sz="2800" err="1">
                <a:latin typeface="Arial Narrow"/>
              </a:rPr>
              <a:t>Lèa</a:t>
            </a:r>
            <a:r>
              <a:rPr lang="it-IT" sz="2800">
                <a:latin typeface="Arial Narrow"/>
              </a:rPr>
              <a:t> </a:t>
            </a:r>
            <a:r>
              <a:rPr lang="it-IT" sz="2800" err="1">
                <a:latin typeface="Arial Narrow"/>
              </a:rPr>
              <a:t>Todorov</a:t>
            </a:r>
            <a:endParaRPr lang="it-IT" sz="2800" err="1">
              <a:latin typeface="Arial Narrow"/>
              <a:cs typeface="Calibri Light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EA0544-A691-1C40-B0E1-5D778A83F91D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Maria Montessori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film diretto da </a:t>
            </a:r>
            <a:r>
              <a:rPr lang="it-IT" sz="1400" err="1">
                <a:solidFill>
                  <a:srgbClr val="333333"/>
                </a:solidFill>
                <a:latin typeface="Calibri"/>
                <a:cs typeface="Arial"/>
              </a:rPr>
              <a:t>Léa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400" err="1">
                <a:solidFill>
                  <a:srgbClr val="333333"/>
                </a:solidFill>
                <a:latin typeface="Calibri"/>
                <a:cs typeface="Arial"/>
              </a:rPr>
              <a:t>Todorov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è ambientato nel Novecento e racconta la storia di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 Lili d'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Aengy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 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(</a:t>
            </a:r>
            <a:r>
              <a:rPr lang="it-IT" sz="1400" b="1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Leila Bekhti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 una cocotte parigina che decide di fuggire da Parigi per proteggere la sua reputazione. La donna, infatti, si rende conto che sua figlia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Tina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(</a:t>
            </a:r>
            <a:r>
              <a:rPr lang="it-IT" sz="1400" b="1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Rafaëlle Sonneville-Caby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 ha un disturbo dell'apprendimento e, prima che venga scoperto e possa ledere alla sua vita mondana, si rifugia a Roma per nasconderla.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Una volta giunta nella Capitale italiana, la vita di Lili viene sconvolta dall'incontro con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Maria Montessori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(</a:t>
            </a:r>
            <a:r>
              <a:rPr lang="it-IT" sz="1400" b="1">
                <a:solidFill>
                  <a:srgbClr val="0065B4"/>
                </a:solidFill>
                <a:latin typeface="Calibri"/>
                <a:cs typeface="Arial"/>
                <a:hlinkClick r:id="rId4"/>
              </a:rPr>
              <a:t>Jasmine Trinca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), che ha ideato un metodo rivoluzionario per i bambini con difficoltà di apprendimento. 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Lili, però, ignora che la stessa Maria nasconde un segreto, ossia un figlio nato al di fuori del matrimonio. Le due donne, seppur molto diverse, l'una dall'altra, si aiuteranno a vicenda per trovare e conquistare il loro posto nel mondo: una per rivalutare la propria vita e le proprie relazioni familiari, l'altra per fare la storia.</a:t>
            </a:r>
            <a:endParaRPr lang="it-IT"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2760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  <a:cs typeface="Calibri"/>
              </a:rPr>
              <a:t>Trama</a:t>
            </a:r>
            <a:endParaRPr lang="it-IT" b="1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276579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</a:t>
            </a:r>
            <a:r>
              <a:rPr lang="it-IT" sz="2000" b="1">
                <a:latin typeface="Calibri"/>
                <a:cs typeface="Calibri"/>
              </a:rPr>
              <a:t> </a:t>
            </a:r>
            <a:r>
              <a:rPr lang="it-IT" b="1">
                <a:latin typeface="Calibri"/>
                <a:cs typeface="Calibri"/>
              </a:rPr>
              <a:t>Testo descrizione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276578" y="103467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</a:t>
            </a:r>
            <a:r>
              <a:rPr lang="it-IT" sz="2000" b="1">
                <a:latin typeface="Calibri"/>
                <a:cs typeface="Calibri"/>
              </a:rPr>
              <a:t> </a:t>
            </a:r>
            <a:r>
              <a:rPr lang="it-IT" b="1">
                <a:latin typeface="Calibri"/>
                <a:cs typeface="Calibri"/>
              </a:rPr>
              <a:t>Titolo trama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1400" b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 </a:t>
            </a:r>
            <a:r>
              <a:rPr lang="it-IT" sz="1600" b="1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pic>
        <p:nvPicPr>
          <p:cNvPr id="2" name="Immagine 1" descr="Immagine che contiene Viso umano, vestiti, persona, Barba umana&#10;&#10;Descrizione generata automaticamente">
            <a:extLst>
              <a:ext uri="{FF2B5EF4-FFF2-40B4-BE49-F238E27FC236}">
                <a16:creationId xmlns:a16="http://schemas.microsoft.com/office/drawing/2014/main" id="{3A32A1DF-EE78-8E95-7EC3-E40E6201F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049" y="2524462"/>
            <a:ext cx="6096000" cy="343301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D5FC0A5-A8D0-E2AC-2ABE-2ED5FCD988FB}"/>
              </a:ext>
            </a:extLst>
          </p:cNvPr>
          <p:cNvSpPr txBox="1"/>
          <p:nvPr/>
        </p:nvSpPr>
        <p:spPr>
          <a:xfrm>
            <a:off x="3272830" y="2061498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</a:t>
            </a:r>
            <a:r>
              <a:rPr lang="it-IT" b="1">
                <a:latin typeface="Calibri"/>
                <a:cs typeface="Calibri"/>
              </a:rPr>
              <a:t>  Immagine 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0719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457717-E2DC-EC8D-8295-5F83F444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800" err="1">
                <a:latin typeface="Arial Narrow"/>
              </a:rPr>
              <a:t>Familia</a:t>
            </a:r>
            <a:r>
              <a:rPr lang="it-IT" sz="2800">
                <a:latin typeface="Arial Narrow"/>
              </a:rPr>
              <a:t>: la trama del film di Francesco Costabile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81AF27-967C-170D-1067-F606A88C164A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Familia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il film diretto da Francesco Costabile, racconta la storia di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Luigi Celeste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Luigi ha vent’anni e vive con sua madre Licia e suo fratello Alessandro, i tre sono uniti da un legame profondo. Sono quasi dieci anni che nessuno di loro vede Franco, compagno e padre, che ha reso l’infanzia dei due ragazzi e la giovinezza di Licia un ricordo fatto di paura e prevaricazione.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Luigi vive la strada e, alla ricerca di un senso di appartenenza e di identità, si unisce a un gruppo di estrema destra dove respira ancora rabbia e sopraffazione.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Un giorno Franco torna, rivuole i suoi figli, rivuole la sua famiglia, ma è un uomo che avvelena tutto ciò che tocca e rende chi ama prigioniero della sua ombra.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Quella di Luigi e della sua famiglia è una storia che arriva al fondo dell'abisso per compiere un percorso di rinascita, costi quel che costi.</a:t>
            </a:r>
            <a:endParaRPr lang="it-IT"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1518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122" y="604314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4947810" y="1715563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Scorsa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solidFill>
                  <a:schemeClr val="accent2"/>
                </a:solidFill>
              </a:rPr>
              <a:t>Questa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62863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459637" y="3626325"/>
            <a:ext cx="1962933" cy="288091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>
                <a:solidFill>
                  <a:schemeClr val="accent2"/>
                </a:solidFill>
              </a:rPr>
              <a:t>Mint Pictures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Genere:Documentario</a:t>
            </a:r>
            <a:endParaRPr lang="it-IT" sz="1400">
              <a:cs typeface="Calibri"/>
            </a:endParaRPr>
          </a:p>
          <a:p>
            <a:pPr algn="ctr"/>
            <a:r>
              <a:rPr lang="it-IT" sz="1400"/>
              <a:t>Anno:2016</a:t>
            </a:r>
            <a:br>
              <a:rPr lang="it-IT" sz="1400"/>
            </a:br>
            <a:r>
              <a:rPr lang="it-IT" sz="1400"/>
              <a:t>Uscita:16/09/2024</a:t>
            </a:r>
            <a:br>
              <a:rPr lang="it-IT" sz="1400"/>
            </a:br>
            <a:r>
              <a:rPr lang="it-IT" sz="1400"/>
              <a:t>Regia: </a:t>
            </a:r>
            <a:r>
              <a:rPr lang="it-IT" sz="1400" err="1"/>
              <a:t>Mat</a:t>
            </a:r>
            <a:r>
              <a:rPr lang="it-IT" sz="1400"/>
              <a:t> </a:t>
            </a:r>
            <a:r>
              <a:rPr lang="it-IT" sz="1400" err="1"/>
              <a:t>Whitecross</a:t>
            </a:r>
            <a:endParaRPr lang="it-IT" sz="1400" err="1">
              <a:cs typeface="Calibri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225830" y="3626324"/>
            <a:ext cx="2005267" cy="28995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>
                <a:solidFill>
                  <a:schemeClr val="accent2"/>
                </a:solidFill>
              </a:rPr>
              <a:t>HYBE</a:t>
            </a:r>
            <a:br>
              <a:rPr lang="it-IT" sz="1400"/>
            </a:br>
            <a:r>
              <a:rPr lang="it-IT" sz="1400"/>
              <a:t>     </a:t>
            </a:r>
            <a:r>
              <a:rPr lang="it-IT" sz="1400" err="1"/>
              <a:t>Genere:Drammatico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Uscita:18/09/2024</a:t>
            </a:r>
            <a:br>
              <a:rPr lang="it-IT" sz="1400"/>
            </a:br>
            <a:r>
              <a:rPr lang="it-IT" sz="1400"/>
              <a:t>Regia: </a:t>
            </a:r>
            <a:r>
              <a:rPr lang="it-IT" sz="1400" err="1"/>
              <a:t>Jun-Soo</a:t>
            </a:r>
            <a:r>
              <a:rPr lang="it-IT" sz="1400"/>
              <a:t> Park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AECBAAC-86F6-396E-D482-678E035C0EE0}"/>
              </a:ext>
            </a:extLst>
          </p:cNvPr>
          <p:cNvSpPr/>
          <p:nvPr/>
        </p:nvSpPr>
        <p:spPr>
          <a:xfrm>
            <a:off x="307434" y="209796"/>
            <a:ext cx="3809599" cy="11288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solidFill>
                  <a:srgbClr val="FF0000"/>
                </a:solidFill>
              </a:rPr>
              <a:t>Al Click del periodo di uscita visualizzo immagine e informazione dei film del periodo di uscita avendo la label evidenziata come mostrato nella slide</a:t>
            </a:r>
          </a:p>
        </p:txBody>
      </p:sp>
      <p:pic>
        <p:nvPicPr>
          <p:cNvPr id="2" name="Immagine 1" descr="Immagine che contiene testo, Viso umano, poster, uomo&#10;&#10;Descrizione generata automaticamente">
            <a:extLst>
              <a:ext uri="{FF2B5EF4-FFF2-40B4-BE49-F238E27FC236}">
                <a16:creationId xmlns:a16="http://schemas.microsoft.com/office/drawing/2014/main" id="{C8E502D7-B6FB-C74A-4E35-65CE9CB32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12" y="3656189"/>
            <a:ext cx="1956153" cy="2840567"/>
          </a:xfrm>
          <a:prstGeom prst="rect">
            <a:avLst/>
          </a:prstGeom>
        </p:spPr>
      </p:pic>
      <p:pic>
        <p:nvPicPr>
          <p:cNvPr id="10" name="Immagine 9" descr="Immagine che contiene testo, Viso umano, uomo, persona&#10;&#10;Descrizione generata automaticamente">
            <a:extLst>
              <a:ext uri="{FF2B5EF4-FFF2-40B4-BE49-F238E27FC236}">
                <a16:creationId xmlns:a16="http://schemas.microsoft.com/office/drawing/2014/main" id="{CFF4F5C5-98A9-BCF9-08D5-534A2795F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423" y="3627967"/>
            <a:ext cx="1970264" cy="288290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B657E39-1A65-CD75-05FC-BAD16B2DA501}"/>
              </a:ext>
            </a:extLst>
          </p:cNvPr>
          <p:cNvSpPr txBox="1"/>
          <p:nvPr/>
        </p:nvSpPr>
        <p:spPr>
          <a:xfrm>
            <a:off x="8165721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ea typeface="Calibri"/>
                <a:cs typeface="Calibri"/>
              </a:rPr>
              <a:t>Scegli periodo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F469064-D2FA-FB3D-605B-3EFA1FF2E663}"/>
              </a:ext>
            </a:extLst>
          </p:cNvPr>
          <p:cNvSpPr txBox="1"/>
          <p:nvPr/>
        </p:nvSpPr>
        <p:spPr>
          <a:xfrm>
            <a:off x="8165721" y="2628158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ea typeface="Calibri"/>
                <a:cs typeface="Calibri"/>
              </a:rPr>
              <a:t>Tra 3 settimane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06BA222-F30E-1F93-A46E-C311F90767A1}"/>
              </a:ext>
            </a:extLst>
          </p:cNvPr>
          <p:cNvSpPr txBox="1"/>
          <p:nvPr/>
        </p:nvSpPr>
        <p:spPr>
          <a:xfrm>
            <a:off x="624590" y="3260361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1DA069B-0727-45ED-E39B-BB6A8576B6D5}"/>
              </a:ext>
            </a:extLst>
          </p:cNvPr>
          <p:cNvSpPr txBox="1"/>
          <p:nvPr/>
        </p:nvSpPr>
        <p:spPr>
          <a:xfrm>
            <a:off x="3460229" y="3254114"/>
            <a:ext cx="206239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 panose="020F0502020204030204"/>
              </a:rPr>
              <a:t>json</a:t>
            </a:r>
            <a:endParaRPr lang="it-IT" sz="1400">
              <a:cs typeface="Calibri" panose="020F0502020204030204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C9354F0-3C9A-5899-A0AC-9FE99CD0FB2E}"/>
              </a:ext>
            </a:extLst>
          </p:cNvPr>
          <p:cNvSpPr txBox="1"/>
          <p:nvPr/>
        </p:nvSpPr>
        <p:spPr>
          <a:xfrm>
            <a:off x="6452016" y="3241623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3E58271-4DE3-D90D-AEEC-0B6203AB4E0E}"/>
              </a:ext>
            </a:extLst>
          </p:cNvPr>
          <p:cNvSpPr txBox="1"/>
          <p:nvPr/>
        </p:nvSpPr>
        <p:spPr>
          <a:xfrm>
            <a:off x="9225196" y="3241623"/>
            <a:ext cx="206239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</a:t>
            </a:r>
            <a:r>
              <a:rPr lang="it-IT" sz="1400">
                <a:cs typeface="Calibri"/>
              </a:rPr>
              <a:t> 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9" name="Connettore 18">
            <a:extLst>
              <a:ext uri="{FF2B5EF4-FFF2-40B4-BE49-F238E27FC236}">
                <a16:creationId xmlns:a16="http://schemas.microsoft.com/office/drawing/2014/main" id="{0295A03C-E402-7888-9F29-D7C9B8A7E8E0}"/>
              </a:ext>
            </a:extLst>
          </p:cNvPr>
          <p:cNvSpPr/>
          <p:nvPr/>
        </p:nvSpPr>
        <p:spPr>
          <a:xfrm>
            <a:off x="11423855" y="510048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31404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6368" y="448166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93790" y="1729724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Questa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Scorsa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solidFill>
                  <a:schemeClr val="accent2"/>
                </a:solidFill>
              </a:rPr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177535" y="3605538"/>
            <a:ext cx="2073901" cy="27951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>
                <a:solidFill>
                  <a:schemeClr val="accent2"/>
                </a:solidFill>
              </a:rPr>
              <a:t>Geko </a:t>
            </a:r>
            <a:r>
              <a:rPr lang="it-IT" sz="1600" b="1" err="1">
                <a:solidFill>
                  <a:schemeClr val="accent2"/>
                </a:solidFill>
              </a:rPr>
              <a:t>Films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Genere:Drammatico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Uscita:26/09/2024</a:t>
            </a:r>
            <a:br>
              <a:rPr lang="it-IT" sz="1400"/>
            </a:br>
            <a:r>
              <a:rPr lang="it-IT" sz="1400"/>
              <a:t>Regia: </a:t>
            </a:r>
            <a:r>
              <a:rPr lang="it-IT" sz="1400" err="1"/>
              <a:t>Lèa</a:t>
            </a:r>
            <a:r>
              <a:rPr lang="it-IT" sz="1400"/>
              <a:t> </a:t>
            </a:r>
            <a:r>
              <a:rPr lang="it-IT" sz="1400" err="1"/>
              <a:t>Todorov</a:t>
            </a:r>
            <a:endParaRPr lang="it-IT" sz="1400">
              <a:cs typeface="Calibri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190552" y="3563205"/>
            <a:ext cx="2072366" cy="284268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err="1">
                <a:solidFill>
                  <a:schemeClr val="accent2"/>
                </a:solidFill>
              </a:rPr>
              <a:t>Lionsgate</a:t>
            </a:r>
            <a:r>
              <a:rPr lang="it-IT" sz="1600" b="1">
                <a:solidFill>
                  <a:schemeClr val="accent2"/>
                </a:solidFill>
              </a:rPr>
              <a:t> </a:t>
            </a:r>
            <a:r>
              <a:rPr lang="it-IT" sz="1600" b="1" err="1">
                <a:solidFill>
                  <a:schemeClr val="accent2"/>
                </a:solidFill>
              </a:rPr>
              <a:t>Films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Genere:Drammatico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Uscita:26/09/2024</a:t>
            </a:r>
            <a:br>
              <a:rPr lang="it-IT" sz="1400"/>
            </a:br>
            <a:r>
              <a:rPr lang="it-IT" sz="1400"/>
              <a:t>Regia: Alexandre Aja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A5F2B032-8968-0160-9BF8-538448B74BA9}"/>
              </a:ext>
            </a:extLst>
          </p:cNvPr>
          <p:cNvSpPr/>
          <p:nvPr/>
        </p:nvSpPr>
        <p:spPr>
          <a:xfrm>
            <a:off x="183060" y="120087"/>
            <a:ext cx="3553484" cy="13357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solidFill>
                  <a:srgbClr val="FF0000"/>
                </a:solidFill>
                <a:cs typeface="Calibri"/>
              </a:rPr>
              <a:t>Al Click del periodo di uscita visualizzo immagine e informazione dei film del periodo di uscita avendo la label evidenziata come mostrato nella slide</a:t>
            </a:r>
            <a:endParaRPr lang="it-IT"/>
          </a:p>
        </p:txBody>
      </p:sp>
      <p:pic>
        <p:nvPicPr>
          <p:cNvPr id="9" name="Immagine 8" descr="Immagine che contiene testo, vestiti, persona, Viso umano&#10;&#10;Descrizione generata automaticamente">
            <a:extLst>
              <a:ext uri="{FF2B5EF4-FFF2-40B4-BE49-F238E27FC236}">
                <a16:creationId xmlns:a16="http://schemas.microsoft.com/office/drawing/2014/main" id="{16220A8F-7CA9-43C2-3767-A7DFF0F58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36" y="3627967"/>
            <a:ext cx="2033764" cy="2777068"/>
          </a:xfrm>
          <a:prstGeom prst="rect">
            <a:avLst/>
          </a:prstGeom>
        </p:spPr>
      </p:pic>
      <p:pic>
        <p:nvPicPr>
          <p:cNvPr id="10" name="Immagine 9" descr="Immagine che contiene testo, poster, Copertina del libro, romanzo&#10;&#10;Descrizione generata automaticamente">
            <a:extLst>
              <a:ext uri="{FF2B5EF4-FFF2-40B4-BE49-F238E27FC236}">
                <a16:creationId xmlns:a16="http://schemas.microsoft.com/office/drawing/2014/main" id="{8E7E4B49-0D9F-BE02-6A0C-DF2CF02CD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479" y="3564466"/>
            <a:ext cx="2061987" cy="283351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0C6956C-ACF7-508B-9522-3B91AC72431F}"/>
              </a:ext>
            </a:extLst>
          </p:cNvPr>
          <p:cNvSpPr txBox="1"/>
          <p:nvPr/>
        </p:nvSpPr>
        <p:spPr>
          <a:xfrm>
            <a:off x="8412666" y="1732103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ea typeface="Calibri"/>
                <a:cs typeface="Calibri"/>
              </a:rPr>
              <a:t>Scegli periodo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96F8790-AB24-4175-58D7-FCBD50A96C63}"/>
              </a:ext>
            </a:extLst>
          </p:cNvPr>
          <p:cNvSpPr txBox="1"/>
          <p:nvPr/>
        </p:nvSpPr>
        <p:spPr>
          <a:xfrm>
            <a:off x="8268267" y="2635636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  Tra 3 settimane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C86FC78-98F3-2105-FF67-FB7D5CE4429D}"/>
              </a:ext>
            </a:extLst>
          </p:cNvPr>
          <p:cNvSpPr txBox="1"/>
          <p:nvPr/>
        </p:nvSpPr>
        <p:spPr>
          <a:xfrm>
            <a:off x="530902" y="3279099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7C300E3-9985-B428-725E-130C599AFADF}"/>
              </a:ext>
            </a:extLst>
          </p:cNvPr>
          <p:cNvSpPr txBox="1"/>
          <p:nvPr/>
        </p:nvSpPr>
        <p:spPr>
          <a:xfrm>
            <a:off x="3179164" y="3210394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A7A41F3-1D0C-9570-FC67-89E61C6D5F83}"/>
              </a:ext>
            </a:extLst>
          </p:cNvPr>
          <p:cNvSpPr txBox="1"/>
          <p:nvPr/>
        </p:nvSpPr>
        <p:spPr>
          <a:xfrm>
            <a:off x="6202180" y="3104213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0AD5378-3F68-3B57-73EA-39A73540BE6F}"/>
              </a:ext>
            </a:extLst>
          </p:cNvPr>
          <p:cNvSpPr txBox="1"/>
          <p:nvPr/>
        </p:nvSpPr>
        <p:spPr>
          <a:xfrm>
            <a:off x="9200213" y="3210394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6" name="Connettore 15">
            <a:extLst>
              <a:ext uri="{FF2B5EF4-FFF2-40B4-BE49-F238E27FC236}">
                <a16:creationId xmlns:a16="http://schemas.microsoft.com/office/drawing/2014/main" id="{276DD7D5-6CC2-453F-F327-AF4498B14BF0}"/>
              </a:ext>
            </a:extLst>
          </p:cNvPr>
          <p:cNvSpPr/>
          <p:nvPr/>
        </p:nvSpPr>
        <p:spPr>
          <a:xfrm>
            <a:off x="11362403" y="350273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82089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122" y="385707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Questa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solidFill>
                  <a:schemeClr val="accent2"/>
                </a:solidFill>
              </a:rPr>
              <a:t>Scorsa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27588" y="2553521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198859" y="3666751"/>
            <a:ext cx="2085563" cy="28451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>
                <a:solidFill>
                  <a:schemeClr val="accent2"/>
                </a:solidFill>
              </a:rPr>
              <a:t>Medusa Film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Genere:Drammatico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Uscita:02/10/2024</a:t>
            </a:r>
            <a:br>
              <a:rPr lang="it-IT" sz="1400"/>
            </a:br>
            <a:r>
              <a:rPr lang="it-IT" sz="1400"/>
              <a:t>Regia: Francesco Costabile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190552" y="3570051"/>
            <a:ext cx="2092618" cy="299105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>
                <a:solidFill>
                  <a:schemeClr val="accent2"/>
                </a:solidFill>
              </a:rPr>
              <a:t>Warner Bros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Genere:Azione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Uscita:02/10/2024</a:t>
            </a:r>
            <a:br>
              <a:rPr lang="it-IT" sz="1400"/>
            </a:br>
            <a:r>
              <a:rPr lang="it-IT" sz="1400"/>
              <a:t>Regia: Todd Philips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DBAE302-3D9E-8E43-CC23-43B43D4070A3}"/>
              </a:ext>
            </a:extLst>
          </p:cNvPr>
          <p:cNvSpPr/>
          <p:nvPr/>
        </p:nvSpPr>
        <p:spPr>
          <a:xfrm>
            <a:off x="242762" y="209995"/>
            <a:ext cx="4139267" cy="12360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solidFill>
                  <a:srgbClr val="FF0000"/>
                </a:solidFill>
                <a:cs typeface="Calibri"/>
              </a:rPr>
              <a:t>Al Click del periodo di uscita visualizzo immagine e informazione dei film del periodo di uscita avendo la label evidenziata come mostrato nella slide</a:t>
            </a:r>
            <a:endParaRPr lang="it-IT"/>
          </a:p>
        </p:txBody>
      </p:sp>
      <p:pic>
        <p:nvPicPr>
          <p:cNvPr id="10" name="Immagine 9" descr="Immagine che contiene testo, ciglio, organo, occhi&#10;&#10;Descrizione generata automaticamente">
            <a:extLst>
              <a:ext uri="{FF2B5EF4-FFF2-40B4-BE49-F238E27FC236}">
                <a16:creationId xmlns:a16="http://schemas.microsoft.com/office/drawing/2014/main" id="{29FBCC75-78F4-3FC5-DF56-BEA3B693E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8" y="3656189"/>
            <a:ext cx="1991431" cy="2861734"/>
          </a:xfrm>
          <a:prstGeom prst="rect">
            <a:avLst/>
          </a:prstGeom>
        </p:spPr>
      </p:pic>
      <p:pic>
        <p:nvPicPr>
          <p:cNvPr id="11" name="Immagine 10" descr="Immagine che contiene testo, Viso umano, poster, schermata&#10;&#10;Descrizione generata automaticamente">
            <a:extLst>
              <a:ext uri="{FF2B5EF4-FFF2-40B4-BE49-F238E27FC236}">
                <a16:creationId xmlns:a16="http://schemas.microsoft.com/office/drawing/2014/main" id="{8441875C-13E7-2684-2789-2CBA8930A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368" y="3663244"/>
            <a:ext cx="2083153" cy="287584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35BCB29-3419-F55F-FEE7-3FFA0475E1DC}"/>
              </a:ext>
            </a:extLst>
          </p:cNvPr>
          <p:cNvSpPr txBox="1"/>
          <p:nvPr/>
        </p:nvSpPr>
        <p:spPr>
          <a:xfrm>
            <a:off x="7918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ea typeface="Calibri"/>
                <a:cs typeface="Calibri"/>
              </a:rPr>
              <a:t>Scegli Periodo</a:t>
            </a:r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3C051C0-9BB8-D240-9078-EA7E4568FCBB}"/>
              </a:ext>
            </a:extLst>
          </p:cNvPr>
          <p:cNvSpPr txBox="1"/>
          <p:nvPr/>
        </p:nvSpPr>
        <p:spPr>
          <a:xfrm>
            <a:off x="7918777" y="2628158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ea typeface="Calibri"/>
                <a:cs typeface="Calibri"/>
              </a:rPr>
              <a:t>Tra 3 settimane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C492E-F778-4D92-84B4-1429C912405D}"/>
              </a:ext>
            </a:extLst>
          </p:cNvPr>
          <p:cNvSpPr txBox="1"/>
          <p:nvPr/>
        </p:nvSpPr>
        <p:spPr>
          <a:xfrm>
            <a:off x="624590" y="3260361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0C3581B-D62D-FB67-A5AE-B05423B57CF2}"/>
              </a:ext>
            </a:extLst>
          </p:cNvPr>
          <p:cNvSpPr txBox="1"/>
          <p:nvPr/>
        </p:nvSpPr>
        <p:spPr>
          <a:xfrm>
            <a:off x="6317105" y="3212892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1F8D568-0B41-3D9B-6B6C-566C95EAA614}"/>
              </a:ext>
            </a:extLst>
          </p:cNvPr>
          <p:cNvSpPr txBox="1"/>
          <p:nvPr/>
        </p:nvSpPr>
        <p:spPr>
          <a:xfrm>
            <a:off x="3200400" y="3212892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1A4C58D-2D33-68F4-E501-5EA40560A9FB}"/>
              </a:ext>
            </a:extLst>
          </p:cNvPr>
          <p:cNvSpPr txBox="1"/>
          <p:nvPr/>
        </p:nvSpPr>
        <p:spPr>
          <a:xfrm>
            <a:off x="9219776" y="3212446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6" name="Connettore 15">
            <a:extLst>
              <a:ext uri="{FF2B5EF4-FFF2-40B4-BE49-F238E27FC236}">
                <a16:creationId xmlns:a16="http://schemas.microsoft.com/office/drawing/2014/main" id="{3591E8B0-57F0-F43B-76AE-97057307EC05}"/>
              </a:ext>
            </a:extLst>
          </p:cNvPr>
          <p:cNvSpPr/>
          <p:nvPr/>
        </p:nvSpPr>
        <p:spPr>
          <a:xfrm>
            <a:off x="11282516" y="387144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35578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7565" y="279527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Questa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Scorsa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solidFill>
                  <a:schemeClr val="accent2"/>
                </a:solidFill>
              </a:rPr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204453" y="3673807"/>
            <a:ext cx="2198451" cy="28590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>
                <a:solidFill>
                  <a:schemeClr val="accent2"/>
                </a:solidFill>
              </a:rPr>
              <a:t>PIC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Genere:Horror</a:t>
            </a:r>
            <a:br>
              <a:rPr lang="it-IT" sz="1400"/>
            </a:br>
            <a:r>
              <a:rPr lang="it-IT" sz="1400"/>
              <a:t>Anno:1980</a:t>
            </a:r>
            <a:br>
              <a:rPr lang="it-IT" sz="1400"/>
            </a:br>
            <a:r>
              <a:rPr lang="it-IT" sz="1400"/>
              <a:t>Uscita:07/10/2024</a:t>
            </a:r>
            <a:br>
              <a:rPr lang="it-IT" sz="1400"/>
            </a:br>
            <a:r>
              <a:rPr lang="it-IT" sz="1400"/>
              <a:t>Regia: Stanley Kubrik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063552" y="3661772"/>
            <a:ext cx="2106729" cy="28711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>
                <a:solidFill>
                  <a:schemeClr val="accent2"/>
                </a:solidFill>
              </a:rPr>
              <a:t>01 Distribution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Genere:Drammatico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Uscita:10/10/2024</a:t>
            </a:r>
            <a:br>
              <a:rPr lang="it-IT" sz="1400"/>
            </a:br>
            <a:r>
              <a:rPr lang="it-IT" sz="1400"/>
              <a:t>Regia: Fabio Grassadonia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6E78B21-AD41-DC4A-E6DB-09B1F1F5C406}"/>
              </a:ext>
            </a:extLst>
          </p:cNvPr>
          <p:cNvSpPr/>
          <p:nvPr/>
        </p:nvSpPr>
        <p:spPr>
          <a:xfrm>
            <a:off x="172471" y="169664"/>
            <a:ext cx="4127777" cy="11676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solidFill>
                  <a:srgbClr val="FF0000"/>
                </a:solidFill>
                <a:cs typeface="Calibri"/>
              </a:rPr>
              <a:t>Al Click del periodo di uscita visualizzo immagine e informazione dei film del periodo di uscita avendo la label evidenziata come mostrato nella slide</a:t>
            </a:r>
            <a:endParaRPr lang="it-IT"/>
          </a:p>
        </p:txBody>
      </p:sp>
      <p:pic>
        <p:nvPicPr>
          <p:cNvPr id="9" name="Immagine 8" descr="Immagine che contiene testo, poster, grafica, sciare&#10;&#10;Descrizione generata automaticamente">
            <a:extLst>
              <a:ext uri="{FF2B5EF4-FFF2-40B4-BE49-F238E27FC236}">
                <a16:creationId xmlns:a16="http://schemas.microsoft.com/office/drawing/2014/main" id="{E5F35048-99AC-5CD2-9A16-E3461574E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3684410"/>
            <a:ext cx="2054932" cy="2847624"/>
          </a:xfrm>
          <a:prstGeom prst="rect">
            <a:avLst/>
          </a:prstGeom>
        </p:spPr>
      </p:pic>
      <p:pic>
        <p:nvPicPr>
          <p:cNvPr id="10" name="Immagine 9" descr="Immagine che contiene testo, Viso umano, libro, uomo&#10;&#10;Descrizione generata automaticamente">
            <a:extLst>
              <a:ext uri="{FF2B5EF4-FFF2-40B4-BE49-F238E27FC236}">
                <a16:creationId xmlns:a16="http://schemas.microsoft.com/office/drawing/2014/main" id="{9A687099-DC6B-D39B-8C8A-D4F021DBA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368" y="3670301"/>
            <a:ext cx="1984375" cy="285467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71C3CFA-14CF-41BA-F85F-E44754241904}"/>
              </a:ext>
            </a:extLst>
          </p:cNvPr>
          <p:cNvSpPr txBox="1"/>
          <p:nvPr/>
        </p:nvSpPr>
        <p:spPr>
          <a:xfrm>
            <a:off x="7817177" y="1694003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Scegli Periodo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BACD57-3AA4-CA18-CC97-2EEFCF8C0542}"/>
              </a:ext>
            </a:extLst>
          </p:cNvPr>
          <p:cNvSpPr txBox="1"/>
          <p:nvPr/>
        </p:nvSpPr>
        <p:spPr>
          <a:xfrm>
            <a:off x="7915955" y="2632392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ea typeface="Calibri"/>
                <a:cs typeface="Calibri"/>
              </a:rPr>
              <a:t>Tra 3 settimane</a:t>
            </a:r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D4FE90F-FA9C-8844-5AF6-01269DA5FCF6}"/>
              </a:ext>
            </a:extLst>
          </p:cNvPr>
          <p:cNvSpPr txBox="1"/>
          <p:nvPr/>
        </p:nvSpPr>
        <p:spPr>
          <a:xfrm>
            <a:off x="399738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679CB7D-C015-94EA-7BEE-548105BB7E21}"/>
              </a:ext>
            </a:extLst>
          </p:cNvPr>
          <p:cNvSpPr txBox="1"/>
          <p:nvPr/>
        </p:nvSpPr>
        <p:spPr>
          <a:xfrm>
            <a:off x="6239656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E37987B-F275-AAEE-2C0A-A5371E180D24}"/>
              </a:ext>
            </a:extLst>
          </p:cNvPr>
          <p:cNvSpPr txBox="1"/>
          <p:nvPr/>
        </p:nvSpPr>
        <p:spPr>
          <a:xfrm>
            <a:off x="3204147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0F8694C-5230-054B-3059-3A1F2E82B14B}"/>
              </a:ext>
            </a:extLst>
          </p:cNvPr>
          <p:cNvSpPr txBox="1"/>
          <p:nvPr/>
        </p:nvSpPr>
        <p:spPr>
          <a:xfrm>
            <a:off x="9062803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6" name="Connettore 15">
            <a:extLst>
              <a:ext uri="{FF2B5EF4-FFF2-40B4-BE49-F238E27FC236}">
                <a16:creationId xmlns:a16="http://schemas.microsoft.com/office/drawing/2014/main" id="{0C8430C1-9553-569E-84EB-28214A3CD81C}"/>
              </a:ext>
            </a:extLst>
          </p:cNvPr>
          <p:cNvSpPr/>
          <p:nvPr/>
        </p:nvSpPr>
        <p:spPr>
          <a:xfrm>
            <a:off x="11270226" y="356418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06697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122" y="279527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Questa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Scorsa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204453" y="3673807"/>
            <a:ext cx="2198451" cy="28590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>
                <a:solidFill>
                  <a:schemeClr val="accent2"/>
                </a:solidFill>
              </a:rPr>
              <a:t>PIC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Genere:Horror</a:t>
            </a:r>
            <a:br>
              <a:rPr lang="it-IT" sz="1400"/>
            </a:br>
            <a:r>
              <a:rPr lang="it-IT" sz="1400"/>
              <a:t>Anno:1980</a:t>
            </a:r>
            <a:br>
              <a:rPr lang="it-IT" sz="1400"/>
            </a:br>
            <a:r>
              <a:rPr lang="it-IT" sz="1400"/>
              <a:t>Uscita:07/10/2024</a:t>
            </a:r>
            <a:br>
              <a:rPr lang="it-IT" sz="1400"/>
            </a:br>
            <a:r>
              <a:rPr lang="it-IT" sz="1400"/>
              <a:t>Regia: Stanley Kubrik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063552" y="3661772"/>
            <a:ext cx="2106729" cy="28711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>
                <a:solidFill>
                  <a:schemeClr val="accent2"/>
                </a:solidFill>
              </a:rPr>
              <a:t>01 Distribution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Genere:Drammatico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Uscita:10/10/2024</a:t>
            </a:r>
            <a:br>
              <a:rPr lang="it-IT" sz="1400"/>
            </a:br>
            <a:r>
              <a:rPr lang="it-IT" sz="1400"/>
              <a:t>Regia: Fabio Grassadonia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6E78B21-AD41-DC4A-E6DB-09B1F1F5C406}"/>
              </a:ext>
            </a:extLst>
          </p:cNvPr>
          <p:cNvSpPr/>
          <p:nvPr/>
        </p:nvSpPr>
        <p:spPr>
          <a:xfrm>
            <a:off x="114361" y="171173"/>
            <a:ext cx="4127777" cy="11676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solidFill>
                  <a:srgbClr val="FF0000"/>
                </a:solidFill>
                <a:cs typeface="Calibri"/>
              </a:rPr>
              <a:t>Al Click del periodo di uscita visualizzo immagine e informazione dei film del periodo di uscita avendo la label evidenziata come mostrato nella slide</a:t>
            </a:r>
            <a:endParaRPr lang="it-IT"/>
          </a:p>
        </p:txBody>
      </p:sp>
      <p:pic>
        <p:nvPicPr>
          <p:cNvPr id="9" name="Immagine 8" descr="Immagine che contiene testo, poster, grafica, sciare&#10;&#10;Descrizione generata automaticamente">
            <a:extLst>
              <a:ext uri="{FF2B5EF4-FFF2-40B4-BE49-F238E27FC236}">
                <a16:creationId xmlns:a16="http://schemas.microsoft.com/office/drawing/2014/main" id="{E5F35048-99AC-5CD2-9A16-E3461574E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3684410"/>
            <a:ext cx="2054932" cy="2847624"/>
          </a:xfrm>
          <a:prstGeom prst="rect">
            <a:avLst/>
          </a:prstGeom>
        </p:spPr>
      </p:pic>
      <p:pic>
        <p:nvPicPr>
          <p:cNvPr id="10" name="Immagine 9" descr="Immagine che contiene testo, Viso umano, libro, uomo&#10;&#10;Descrizione generata automaticamente">
            <a:extLst>
              <a:ext uri="{FF2B5EF4-FFF2-40B4-BE49-F238E27FC236}">
                <a16:creationId xmlns:a16="http://schemas.microsoft.com/office/drawing/2014/main" id="{9A687099-DC6B-D39B-8C8A-D4F021DBA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368" y="3670301"/>
            <a:ext cx="1984375" cy="285467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71C3CFA-14CF-41BA-F85F-E44754241904}"/>
              </a:ext>
            </a:extLst>
          </p:cNvPr>
          <p:cNvSpPr txBox="1"/>
          <p:nvPr/>
        </p:nvSpPr>
        <p:spPr>
          <a:xfrm>
            <a:off x="7817177" y="1694003"/>
            <a:ext cx="3563332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solidFill>
                  <a:schemeClr val="accent2"/>
                </a:solidFill>
              </a:rPr>
              <a:t>Scegli Periodo</a:t>
            </a:r>
            <a:br>
              <a:rPr lang="it-IT">
                <a:solidFill>
                  <a:schemeClr val="accent2"/>
                </a:solidFill>
              </a:rPr>
            </a:br>
            <a:r>
              <a:rPr lang="it-IT">
                <a:ea typeface="Calibri"/>
                <a:cs typeface="Calibri"/>
              </a:rPr>
              <a:t>Select-&gt; Uscite del 9 settembre 2024... </a:t>
            </a:r>
            <a:r>
              <a:rPr lang="it-IT" err="1">
                <a:ea typeface="Calibri"/>
                <a:cs typeface="Calibri"/>
              </a:rPr>
              <a:t>ecc</a:t>
            </a:r>
            <a:endParaRPr lang="it-IT">
              <a:ea typeface="Calibri"/>
              <a:cs typeface="Calibri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BACD57-3AA4-CA18-CC97-2EEFCF8C0542}"/>
              </a:ext>
            </a:extLst>
          </p:cNvPr>
          <p:cNvSpPr txBox="1"/>
          <p:nvPr/>
        </p:nvSpPr>
        <p:spPr>
          <a:xfrm>
            <a:off x="7817177" y="2632392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ea typeface="Calibri"/>
                <a:cs typeface="Calibri"/>
              </a:rPr>
              <a:t>Tra 3 settimane</a:t>
            </a:r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387A41E-78D0-A97A-867C-38893BC34E86}"/>
              </a:ext>
            </a:extLst>
          </p:cNvPr>
          <p:cNvSpPr txBox="1"/>
          <p:nvPr/>
        </p:nvSpPr>
        <p:spPr>
          <a:xfrm>
            <a:off x="405983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2ADFC1E-2988-28C3-C366-657A05810B39}"/>
              </a:ext>
            </a:extLst>
          </p:cNvPr>
          <p:cNvSpPr txBox="1"/>
          <p:nvPr/>
        </p:nvSpPr>
        <p:spPr>
          <a:xfrm>
            <a:off x="6239656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F9C3904-11F1-C1E0-0C44-DC6B213EF9F3}"/>
              </a:ext>
            </a:extLst>
          </p:cNvPr>
          <p:cNvSpPr txBox="1"/>
          <p:nvPr/>
        </p:nvSpPr>
        <p:spPr>
          <a:xfrm>
            <a:off x="3204147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A2CB808-1868-C1E2-46FF-AD40D75637B7}"/>
              </a:ext>
            </a:extLst>
          </p:cNvPr>
          <p:cNvSpPr txBox="1"/>
          <p:nvPr/>
        </p:nvSpPr>
        <p:spPr>
          <a:xfrm>
            <a:off x="9062803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6" name="Connettore 15">
            <a:extLst>
              <a:ext uri="{FF2B5EF4-FFF2-40B4-BE49-F238E27FC236}">
                <a16:creationId xmlns:a16="http://schemas.microsoft.com/office/drawing/2014/main" id="{4B066BB1-CA47-2A29-5F9F-474180FE4332}"/>
              </a:ext>
            </a:extLst>
          </p:cNvPr>
          <p:cNvSpPr/>
          <p:nvPr/>
        </p:nvSpPr>
        <p:spPr>
          <a:xfrm>
            <a:off x="11380839" y="276531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25003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122" y="279527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Questa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Scorsa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204453" y="3673807"/>
            <a:ext cx="2198451" cy="28590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>
                <a:solidFill>
                  <a:schemeClr val="accent2"/>
                </a:solidFill>
              </a:rPr>
              <a:t>Lucky Red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Genere:Biografico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Uscita:31/10/2024</a:t>
            </a:r>
            <a:br>
              <a:rPr lang="it-IT" sz="1400"/>
            </a:br>
            <a:r>
              <a:rPr lang="it-IT" sz="1400"/>
              <a:t>Regia: Andrea Segre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063552" y="3661772"/>
            <a:ext cx="2106729" cy="28711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>
                <a:solidFill>
                  <a:schemeClr val="accent2"/>
                </a:solidFill>
              </a:rPr>
              <a:t>Warner Bros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Genere:Animazione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Uscita:31/10/2024</a:t>
            </a:r>
            <a:br>
              <a:rPr lang="it-IT" sz="1400"/>
            </a:br>
            <a:r>
              <a:rPr lang="it-IT" sz="1400"/>
              <a:t>Regia: Pedro Solis Garcia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6E78B21-AD41-DC4A-E6DB-09B1F1F5C406}"/>
              </a:ext>
            </a:extLst>
          </p:cNvPr>
          <p:cNvSpPr/>
          <p:nvPr/>
        </p:nvSpPr>
        <p:spPr>
          <a:xfrm>
            <a:off x="156321" y="181523"/>
            <a:ext cx="4146514" cy="11676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solidFill>
                  <a:srgbClr val="FF0000"/>
                </a:solidFill>
                <a:cs typeface="Calibri"/>
              </a:rPr>
              <a:t>Al Click del periodo di uscita visualizzo immagine e informazione dei film del periodo di uscita avendo la label evidenziata come mostrato nella slide</a:t>
            </a:r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71C3CFA-14CF-41BA-F85F-E44754241904}"/>
              </a:ext>
            </a:extLst>
          </p:cNvPr>
          <p:cNvSpPr txBox="1"/>
          <p:nvPr/>
        </p:nvSpPr>
        <p:spPr>
          <a:xfrm>
            <a:off x="7817177" y="1694003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Scegli Periodo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BACD57-3AA4-CA18-CC97-2EEFCF8C0542}"/>
              </a:ext>
            </a:extLst>
          </p:cNvPr>
          <p:cNvSpPr txBox="1"/>
          <p:nvPr/>
        </p:nvSpPr>
        <p:spPr>
          <a:xfrm>
            <a:off x="7817177" y="2632392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solidFill>
                  <a:schemeClr val="accent2"/>
                </a:solidFill>
                <a:ea typeface="Calibri"/>
                <a:cs typeface="Calibri"/>
              </a:rPr>
              <a:t>Tra 3 settimane</a:t>
            </a:r>
            <a:endParaRPr lang="it-IT">
              <a:solidFill>
                <a:schemeClr val="accent2"/>
              </a:solidFill>
            </a:endParaRPr>
          </a:p>
        </p:txBody>
      </p:sp>
      <p:pic>
        <p:nvPicPr>
          <p:cNvPr id="4" name="Immagine 3" descr="Immagine che contiene testo, poster, cielo, persona&#10;&#10;Descrizione generata automaticamente">
            <a:extLst>
              <a:ext uri="{FF2B5EF4-FFF2-40B4-BE49-F238E27FC236}">
                <a16:creationId xmlns:a16="http://schemas.microsoft.com/office/drawing/2014/main" id="{04D277B5-056F-C00D-368C-CA43E717D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2" y="3677354"/>
            <a:ext cx="2181931" cy="2847624"/>
          </a:xfrm>
          <a:prstGeom prst="rect">
            <a:avLst/>
          </a:prstGeom>
        </p:spPr>
      </p:pic>
      <p:pic>
        <p:nvPicPr>
          <p:cNvPr id="12" name="Immagine 11" descr="Immagine che contiene testo, poster, libro, persona&#10;&#10;Descrizione generata automaticamente">
            <a:extLst>
              <a:ext uri="{FF2B5EF4-FFF2-40B4-BE49-F238E27FC236}">
                <a16:creationId xmlns:a16="http://schemas.microsoft.com/office/drawing/2014/main" id="{DF36943F-D57B-FBD3-AA5D-D9B73D15F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090" y="3670299"/>
            <a:ext cx="2181930" cy="2854679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88B0884-978F-84E6-61C8-69A9718C7BEB}"/>
              </a:ext>
            </a:extLst>
          </p:cNvPr>
          <p:cNvSpPr txBox="1"/>
          <p:nvPr/>
        </p:nvSpPr>
        <p:spPr>
          <a:xfrm>
            <a:off x="655819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E790CEF-B8AA-2C10-CC64-DA45A6395138}"/>
              </a:ext>
            </a:extLst>
          </p:cNvPr>
          <p:cNvSpPr txBox="1"/>
          <p:nvPr/>
        </p:nvSpPr>
        <p:spPr>
          <a:xfrm>
            <a:off x="3222885" y="3254115"/>
            <a:ext cx="2162331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62F7B52-BFEC-A955-181F-13498A300490}"/>
              </a:ext>
            </a:extLst>
          </p:cNvPr>
          <p:cNvSpPr txBox="1"/>
          <p:nvPr/>
        </p:nvSpPr>
        <p:spPr>
          <a:xfrm>
            <a:off x="6408295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CE9606B-7CA8-5018-7FE5-C5BCEB1193AC}"/>
              </a:ext>
            </a:extLst>
          </p:cNvPr>
          <p:cNvSpPr txBox="1"/>
          <p:nvPr/>
        </p:nvSpPr>
        <p:spPr>
          <a:xfrm>
            <a:off x="9062803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6" name="Connettore 15">
            <a:extLst>
              <a:ext uri="{FF2B5EF4-FFF2-40B4-BE49-F238E27FC236}">
                <a16:creationId xmlns:a16="http://schemas.microsoft.com/office/drawing/2014/main" id="{CB7F9A1F-3194-D384-905D-BE6224A47D9F}"/>
              </a:ext>
            </a:extLst>
          </p:cNvPr>
          <p:cNvSpPr/>
          <p:nvPr/>
        </p:nvSpPr>
        <p:spPr>
          <a:xfrm>
            <a:off x="11383858" y="324400"/>
            <a:ext cx="614516" cy="581956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652859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>
                <a:solidFill>
                  <a:srgbClr val="FF0000"/>
                </a:solidFill>
              </a:rPr>
              <a:t>News</a:t>
            </a:r>
          </a:p>
        </p:txBody>
      </p:sp>
      <p:pic>
        <p:nvPicPr>
          <p:cNvPr id="2" name="Immagine 1" descr="Immagine che contiene Viso umano, vestiti, persona, Mento&#10;&#10;Descrizione generata automaticamente">
            <a:extLst>
              <a:ext uri="{FF2B5EF4-FFF2-40B4-BE49-F238E27FC236}">
                <a16:creationId xmlns:a16="http://schemas.microsoft.com/office/drawing/2014/main" id="{9C1CD3C5-C850-AE15-094A-340AF24D5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319" y="2159202"/>
            <a:ext cx="5946097" cy="333999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3878704" y="1174229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</a:t>
            </a:r>
            <a:r>
              <a:rPr lang="it-IT" sz="2000" b="1">
                <a:cs typeface="Calibri"/>
              </a:rPr>
              <a:t> </a:t>
            </a:r>
            <a:r>
              <a:rPr lang="it-IT" b="1">
                <a:cs typeface="Calibri"/>
              </a:rPr>
              <a:t>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3735048" y="6083507"/>
            <a:ext cx="288685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</a:t>
            </a:r>
            <a:r>
              <a:rPr lang="it-IT" sz="2000" b="1">
                <a:cs typeface="Calibri"/>
              </a:rPr>
              <a:t>   </a:t>
            </a:r>
            <a:r>
              <a:rPr lang="it-IT" b="1">
                <a:cs typeface="Calibri"/>
              </a:rPr>
              <a:t>Descrizione News</a:t>
            </a:r>
            <a:r>
              <a:rPr lang="it-IT" sz="2000" b="1">
                <a:cs typeface="Calibri"/>
              </a:rPr>
              <a:t> </a:t>
            </a:r>
            <a:r>
              <a:rPr lang="it-IT" sz="1400" b="1" err="1">
                <a:cs typeface="Calibri"/>
              </a:rPr>
              <a:t>json</a:t>
            </a:r>
            <a:endParaRPr lang="it-IT" b="1" err="1">
              <a:cs typeface="Calibri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13EA37E-07E2-F39F-178E-AA1645C21116}"/>
              </a:ext>
            </a:extLst>
          </p:cNvPr>
          <p:cNvSpPr txBox="1"/>
          <p:nvPr/>
        </p:nvSpPr>
        <p:spPr>
          <a:xfrm>
            <a:off x="3878704" y="171762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Immagine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8" name="Connettore 7">
            <a:extLst>
              <a:ext uri="{FF2B5EF4-FFF2-40B4-BE49-F238E27FC236}">
                <a16:creationId xmlns:a16="http://schemas.microsoft.com/office/drawing/2014/main" id="{5EA28F9E-2111-DC3A-1B95-FAEF43FE5153}"/>
              </a:ext>
            </a:extLst>
          </p:cNvPr>
          <p:cNvSpPr/>
          <p:nvPr/>
        </p:nvSpPr>
        <p:spPr>
          <a:xfrm>
            <a:off x="11319387" y="460886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29791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Interpretato da Bob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Odenkirk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Mansell è stato introdotto sin da subito come un uomo dall’apparente vita normale che cela invece un misterioso e pericoloso passato che tornerà a bussare prepotentemente alla sua porta. </a:t>
            </a:r>
            <a:endParaRPr lang="it-IT" sz="16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Mansell ha dei conti in sospeso con brutti ceffi e, per assicurarsi che la sua famiglia sia sana e salva, è costretto ad impugnare nuovamente le armi e darsi da fare. Rispolverando la sua vecchia vita, Mansell sarà costretto a sporcarsi ancora una volta le mani, nel disperato tentativo di salvare sua moglie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Becca 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e la sua famiglia.</a:t>
            </a:r>
          </a:p>
          <a:p>
            <a:pPr marL="0" indent="0"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Da tempo è stato annunciato un film sequel di Io sono nessuno e il cast continua a lievitare. Naturalmente non potrà fare a meno di Bob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Odenkirk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essendo il protagonista, ma dovrà vedersela anche con una new entry interessante, quale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Sharon Stone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il cui ruolo è stato soltanto anticipato ed etichettato come quello da antagonista. </a:t>
            </a:r>
            <a:endParaRPr lang="it-IT" sz="16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Tornerà anche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Christopher Lloyd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e vedremo anche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Colin Hanks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In merito all’ultimo ingresso, John Ortiz negli ultimi anni ha recitato in diversi film tra cui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4"/>
              </a:rPr>
              <a:t>La vita dopo – The Fallout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, The In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Between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– Non ti perderà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5"/>
              </a:rPr>
              <a:t>American Fiction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6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Lato televisivo, invece, ha dato un contributo a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6"/>
              </a:rPr>
              <a:t>Messiah 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Will Trent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Non è chiaro chi interpreterà in Io sono nessuno 2: per scoprirlo, probabilmente dovremo attendere ulteriori dettagli in merito alla trama o quantomeno il primo trailer. Sappiamo, al momento, che il sequel ha fissato già una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data d’uscita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al cinema prevista per il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15 agosto 2025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negli Stati Uniti d’America.</a:t>
            </a:r>
            <a:endParaRPr lang="it-IT" sz="1600">
              <a:latin typeface="Calibri"/>
              <a:cs typeface="Calibri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4D0C17B-5213-97A2-69E4-848EDAD98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033" y="89958"/>
            <a:ext cx="10515600" cy="1325563"/>
          </a:xfrm>
        </p:spPr>
        <p:txBody>
          <a:bodyPr/>
          <a:lstStyle/>
          <a:p>
            <a:r>
              <a:rPr lang="it-IT" sz="2800">
                <a:latin typeface="Arial Narrow"/>
                <a:cs typeface="Calibri Light"/>
              </a:rPr>
              <a:t>Io sono nessuno 2, John Ortiz si unisce al cast del sequel</a:t>
            </a:r>
          </a:p>
        </p:txBody>
      </p:sp>
    </p:spTree>
    <p:extLst>
      <p:ext uri="{BB962C8B-B14F-4D97-AF65-F5344CB8AC3E}">
        <p14:creationId xmlns:p14="http://schemas.microsoft.com/office/powerpoint/2010/main" val="2845210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3866213" y="131788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3953655" y="610224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Descrizione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pic>
        <p:nvPicPr>
          <p:cNvPr id="5" name="Immagine 4" descr="Immagine che contiene vestiti, persona, Blu elettrico, Blu cobalto&#10;&#10;Descrizione generata automaticamente">
            <a:extLst>
              <a:ext uri="{FF2B5EF4-FFF2-40B4-BE49-F238E27FC236}">
                <a16:creationId xmlns:a16="http://schemas.microsoft.com/office/drawing/2014/main" id="{17E1D9E0-2BE2-ECF8-9C6C-2B0BBEACF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197" y="2680272"/>
            <a:ext cx="5677524" cy="319634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9827D897-ECC3-2E5F-69C4-9558F89D46E1}"/>
              </a:ext>
            </a:extLst>
          </p:cNvPr>
          <p:cNvSpPr txBox="1"/>
          <p:nvPr/>
        </p:nvSpPr>
        <p:spPr>
          <a:xfrm>
            <a:off x="3862465" y="2313481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Immagine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7" name="Connettore 6">
            <a:extLst>
              <a:ext uri="{FF2B5EF4-FFF2-40B4-BE49-F238E27FC236}">
                <a16:creationId xmlns:a16="http://schemas.microsoft.com/office/drawing/2014/main" id="{EE928109-7997-92D4-3641-4D6368E3537D}"/>
              </a:ext>
            </a:extLst>
          </p:cNvPr>
          <p:cNvSpPr/>
          <p:nvPr/>
        </p:nvSpPr>
        <p:spPr>
          <a:xfrm>
            <a:off x="11233355" y="540773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90861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Stability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AI, l'azienda dietro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Stable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Diffusion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ha annunciato che James Cameron è entrato nel suo consiglio di amministrazione.</a:t>
            </a:r>
            <a:endParaRPr lang="it-IT" sz="1600">
              <a:solidFill>
                <a:srgbClr val="000000"/>
              </a:solidFill>
              <a:latin typeface="Calibri"/>
              <a:cs typeface="Calibri"/>
            </a:endParaRPr>
          </a:p>
          <a:p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Nell'annuncio il regista di Terminator e Avatar motiva la sua decisione: da sempre attento alle nuove tecnologie, non può voltare le spalle all'Intelligenza Artificiale.</a:t>
            </a:r>
          </a:p>
          <a:p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Terminata l'ondata di proteste contro l'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IA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con conseguenti regolamentazioni a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Hollywood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riguardanti attori e attrici, il settore comincia ad annunciare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partnership stabili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che porteranno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l'Intelligenza Artificiale nel cinema americano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: dopo l'annuncio recente della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Lionsgate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adesso è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James Cameron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a entrare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nel consiglio di amministrazione della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Stability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AI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l'azienda dietro al famoso generatore di immagini 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Stable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Diffusion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</a:t>
            </a:r>
          </a:p>
          <a:p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Nel comunicato ufficiale, il regista di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Terminator 2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Titanic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Avatar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ha motivato la sua scelta con la sua naturale vocazione, da sempre: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guardare al futuro tecnico della settima arte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0151BEE9-39AA-2842-8E47-94808AB3D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403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>
                <a:latin typeface="Arial Narrow"/>
                <a:cs typeface="Calibri Light"/>
              </a:rPr>
              <a:t>James Cameron abbraccia l'AI nel consiglio di amministrazione di </a:t>
            </a:r>
            <a:r>
              <a:rPr lang="it-IT" sz="2800" err="1">
                <a:latin typeface="Arial Narrow"/>
                <a:cs typeface="Calibri Light"/>
              </a:rPr>
              <a:t>Stability</a:t>
            </a:r>
            <a:r>
              <a:rPr lang="it-IT" sz="2800">
                <a:latin typeface="Arial Narrow"/>
                <a:cs typeface="Calibri Light"/>
              </a:rPr>
              <a:t> AI "Inimmaginabili mezzi per raccontare storie"</a:t>
            </a:r>
            <a:endParaRPr lang="it-IT" sz="280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412726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4596983" y="11742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4409606" y="573998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Descrizione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pic>
        <p:nvPicPr>
          <p:cNvPr id="2" name="Immagine 1" descr="Immagine che contiene persona, Viso umano, vestiti, uomo&#10;&#10;Descrizione generata automaticamente">
            <a:extLst>
              <a:ext uri="{FF2B5EF4-FFF2-40B4-BE49-F238E27FC236}">
                <a16:creationId xmlns:a16="http://schemas.microsoft.com/office/drawing/2014/main" id="{69AE8CE3-B73E-EAFD-D278-EB2470130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132" y="2080666"/>
            <a:ext cx="5727491" cy="322132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CE1BBFC-B289-738F-7A84-11AC48786C5B}"/>
              </a:ext>
            </a:extLst>
          </p:cNvPr>
          <p:cNvSpPr txBox="1"/>
          <p:nvPr/>
        </p:nvSpPr>
        <p:spPr>
          <a:xfrm>
            <a:off x="4596982" y="17113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Immagine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8" name="Connettore 7">
            <a:extLst>
              <a:ext uri="{FF2B5EF4-FFF2-40B4-BE49-F238E27FC236}">
                <a16:creationId xmlns:a16="http://schemas.microsoft.com/office/drawing/2014/main" id="{B101AF76-57CC-5413-D1B3-B1FA606D1D96}"/>
              </a:ext>
            </a:extLst>
          </p:cNvPr>
          <p:cNvSpPr/>
          <p:nvPr/>
        </p:nvSpPr>
        <p:spPr>
          <a:xfrm>
            <a:off x="11270226" y="645241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809784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922" y="2009069"/>
            <a:ext cx="10515600" cy="4351338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Si vociferava già da qualche settimana del possibile ingresso di Matthias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Schoenaerts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in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: Woman of Tomorrow, diventato ufficialmente realtà: sarà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Krem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delle Colline Gialle.</a:t>
            </a:r>
          </a:p>
          <a:p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: Woman of Tomorrow è il prossimo progetto in cantiere per i DC Studios. James Gunn ha lavorato duramente negli ultimi mesi sul set di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Superman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ma quelle riprese sono ormai state archiviate da tempo e il pubblico ha già dirottato lo sguardo sui prossimi progetti in fase di realizzazione, tra cui il prossimo capitolo dedicato a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</a:t>
            </a:r>
          </a:p>
          <a:p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Da tempo, è stato annunciato il coinvolgimento di Milly Alcock, star di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House of the Dragon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che interpreterà la nuova Ragazza d’Acciaio nel DCU. E a quanto pare dovrà vedersela con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Krem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delle Colline Gialle, interpretato da Matthias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Schoenaerts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Ma chi è, esattamente,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Krem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delle Colline Gialle? Nei fumetti, questo personaggio è uno spietato individuo, un ladro criminale armato di spada e frecce dipinto da molti come un assassino di uomini, donne e cani. </a:t>
            </a:r>
            <a:endParaRPr lang="it-IT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Un’etichetta guadagnata anche dopo aver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ucciso il padre della sua ragazza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aliena 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Ruthye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Marye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Knoll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che metterà una taglia sulla sua testa partendo per una missione attraverso la galassia e vendicare suo padre insieme a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>
              <a:cs typeface="Calibri"/>
            </a:endParaRPr>
          </a:p>
          <a:p>
            <a:endParaRPr lang="it-IT" sz="1600">
              <a:solidFill>
                <a:srgbClr val="333333"/>
              </a:solidFill>
              <a:latin typeface="Calibri"/>
              <a:cs typeface="Arial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5C8D685-6EAD-DE9C-11D3-87497AFA2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99181"/>
            <a:ext cx="10515600" cy="1325563"/>
          </a:xfrm>
        </p:spPr>
        <p:txBody>
          <a:bodyPr/>
          <a:lstStyle/>
          <a:p>
            <a:r>
              <a:rPr lang="it-IT" sz="2800" err="1">
                <a:latin typeface="Arial Narrow"/>
                <a:cs typeface="Calibri Light"/>
              </a:rPr>
              <a:t>Supergirl:Woman</a:t>
            </a:r>
            <a:r>
              <a:rPr lang="it-IT" sz="2800">
                <a:latin typeface="Arial Narrow"/>
                <a:cs typeface="Calibri Light"/>
              </a:rPr>
              <a:t> of </a:t>
            </a:r>
            <a:r>
              <a:rPr lang="it-IT" sz="2800" err="1">
                <a:latin typeface="Arial Narrow"/>
                <a:cs typeface="Calibri Light"/>
              </a:rPr>
              <a:t>Tomorrow,Matthias</a:t>
            </a:r>
            <a:r>
              <a:rPr lang="it-IT" sz="2800">
                <a:latin typeface="Arial Narrow"/>
                <a:cs typeface="Calibri Light"/>
              </a:rPr>
              <a:t> </a:t>
            </a:r>
            <a:r>
              <a:rPr lang="it-IT" sz="2800" err="1">
                <a:latin typeface="Arial Narrow"/>
                <a:cs typeface="Calibri Light"/>
              </a:rPr>
              <a:t>Schoenaerts</a:t>
            </a:r>
            <a:r>
              <a:rPr lang="it-IT" sz="2800">
                <a:latin typeface="Arial Narrow"/>
                <a:cs typeface="Calibri Light"/>
              </a:rPr>
              <a:t> sarà </a:t>
            </a:r>
            <a:r>
              <a:rPr lang="it-IT" sz="2800" err="1">
                <a:latin typeface="Arial Narrow"/>
                <a:cs typeface="Calibri Light"/>
              </a:rPr>
              <a:t>Krem</a:t>
            </a:r>
            <a:r>
              <a:rPr lang="it-IT" sz="2800">
                <a:latin typeface="Arial Narrow"/>
                <a:cs typeface="Calibri Light"/>
              </a:rPr>
              <a:t> delle Colline Gialle</a:t>
            </a:r>
            <a:endParaRPr lang="it-IT" sz="280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7233139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4596983" y="11742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4409606" y="573998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Descrizione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pic>
        <p:nvPicPr>
          <p:cNvPr id="5" name="Immagine 4" descr="Immagine che contiene Viso umano, vestiti, persona, cappello&#10;&#10;Descrizione generata automaticamente">
            <a:extLst>
              <a:ext uri="{FF2B5EF4-FFF2-40B4-BE49-F238E27FC236}">
                <a16:creationId xmlns:a16="http://schemas.microsoft.com/office/drawing/2014/main" id="{07BAAD0F-373E-688F-0C6F-9EB180768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624" y="1968243"/>
            <a:ext cx="6039784" cy="335873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88460BB-937A-32FD-5DF2-8342790A7E8A}"/>
              </a:ext>
            </a:extLst>
          </p:cNvPr>
          <p:cNvSpPr txBox="1"/>
          <p:nvPr/>
        </p:nvSpPr>
        <p:spPr>
          <a:xfrm>
            <a:off x="4596982" y="159895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Immagine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8" name="Connettore 7">
            <a:extLst>
              <a:ext uri="{FF2B5EF4-FFF2-40B4-BE49-F238E27FC236}">
                <a16:creationId xmlns:a16="http://schemas.microsoft.com/office/drawing/2014/main" id="{77F72592-6EE7-0C42-249F-EC0ED123E947}"/>
              </a:ext>
            </a:extLst>
          </p:cNvPr>
          <p:cNvSpPr/>
          <p:nvPr/>
        </p:nvSpPr>
        <p:spPr>
          <a:xfrm>
            <a:off x="11270226" y="645241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55775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2247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Compie oggi 55 anni la gallese D.O.C.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Catherine Zeta-Jones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  Esplosa alla fine degli anni ‘90, l’attrice ha vissuto un momento artistico estremamente fulgido che l’ha portata in quegli anni a diventare una delle star più ricercate ed acclamate ad Hollywood. I cinque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film in streaming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che abbiamo selezionato per renderle omaggio testimoniano non soltanto la sua enorme presenza scenica ma anche una versatilità che l’ha portata addirittura a vincere l’Oscar. </a:t>
            </a:r>
          </a:p>
          <a:p>
            <a:pPr marL="0" indent="0">
              <a:buNone/>
            </a:pPr>
            <a:endParaRPr lang="it-IT" sz="1600">
              <a:solidFill>
                <a:srgbClr val="333333"/>
              </a:solidFill>
              <a:latin typeface="Calibri"/>
              <a:cs typeface="Arial"/>
            </a:endParaRPr>
          </a:p>
          <a:p>
            <a:pPr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Cinque film in streaming interpretati da Catherine Zeta-Jones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La maschera di Zorro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Entrapment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Traffic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Chicago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The Terminal </a:t>
            </a:r>
            <a:endParaRPr lang="it-IT" sz="1600">
              <a:latin typeface="Calibri"/>
            </a:endParaRPr>
          </a:p>
          <a:p>
            <a:pPr marL="0" indent="0">
              <a:buNone/>
            </a:pPr>
            <a:endParaRPr lang="it-IT" sz="1600">
              <a:solidFill>
                <a:srgbClr val="333333"/>
              </a:solidFill>
              <a:latin typeface="Calibri"/>
              <a:cs typeface="Arial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919897B-6163-BD51-28B5-FBFCD9AD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144" y="104069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>
                <a:latin typeface="Arial Narrow"/>
                <a:cs typeface="Calibri Light"/>
              </a:rPr>
              <a:t>I migliori film in streaming di Catherine Zeta-Jones</a:t>
            </a:r>
            <a:endParaRPr lang="it-IT" sz="280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5111662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4596983" y="11742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4596983" y="578994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Descrizione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pic>
        <p:nvPicPr>
          <p:cNvPr id="2" name="Immagine 1" descr="Immagine che contiene persona, vestiti, edificio, Viso umano&#10;&#10;Descrizione generata automaticamente">
            <a:extLst>
              <a:ext uri="{FF2B5EF4-FFF2-40B4-BE49-F238E27FC236}">
                <a16:creationId xmlns:a16="http://schemas.microsoft.com/office/drawing/2014/main" id="{82F9E4AA-9514-EF01-4308-5A79DB33A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852" y="2061929"/>
            <a:ext cx="5652541" cy="317760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2ECD060-D8B3-BB99-572D-0E365C1C8247}"/>
              </a:ext>
            </a:extLst>
          </p:cNvPr>
          <p:cNvSpPr txBox="1"/>
          <p:nvPr/>
        </p:nvSpPr>
        <p:spPr>
          <a:xfrm>
            <a:off x="4596982" y="169263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Immagine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8" name="Connettore 7">
            <a:extLst>
              <a:ext uri="{FF2B5EF4-FFF2-40B4-BE49-F238E27FC236}">
                <a16:creationId xmlns:a16="http://schemas.microsoft.com/office/drawing/2014/main" id="{C9E45AFB-A1D9-055F-8F37-244966CE27DC}"/>
              </a:ext>
            </a:extLst>
          </p:cNvPr>
          <p:cNvSpPr/>
          <p:nvPr/>
        </p:nvSpPr>
        <p:spPr>
          <a:xfrm>
            <a:off x="11317015" y="377873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07011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2247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Debutta il 24 ottobre in streaming su Prime Video questo film diretto dal francese Pierre Morel. Oltre a Beckinsale, nel cast anche Saffron Burrows, Rupert Friend e Ray Stevenson. </a:t>
            </a:r>
          </a:p>
          <a:p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Solo per citare titoli recenti ci sono state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Charlize Theron in Atomica Bionda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Angelina Jolie in Salt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Jennifer Lawrence in Red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Sparrow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Gal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Gadot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in Heart of Stone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Jessica Chastain e compagnia in Secret Team 355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In origine c'era la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Annie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Parillaud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di Nikita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</a:t>
            </a:r>
          </a:p>
          <a:p>
            <a:br>
              <a:rPr lang="it-IT" sz="1600">
                <a:latin typeface="Calibri"/>
                <a:cs typeface="Arial"/>
              </a:rPr>
            </a:b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Ora tocca a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Kate Beckinsale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raccogliere il testimone delle eroine d'azione in thriller di spionaggio: è lei infatti la protagonista di 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Canary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Blond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film che debutterà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 in streaming su Prime Video il 24 ottobre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br>
              <a:rPr lang="it-IT" sz="1600">
                <a:latin typeface="Calibri"/>
                <a:cs typeface="Arial"/>
              </a:rPr>
            </a:b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Il film, girato in Croazia, è diretto dal francese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Pierre Morel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(non a caso sodale di Besson), quello di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Io vi troverò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Peppermint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- L'angelo della vendetta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che si è basato su un copione di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Matthew Kennedy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che racconta la storia di una letale agente della CIA di nome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Avery Graves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Quando suo marito - ignaro della professione della donna - viene rapito dai dei terroristi che vorrebbero estorcere dei segreti di stato, Avery dovrà agire da sola, sfruttando i suoi contatti non ufficiali per cercare di ottenere quanto le viene richiesto, potendo contare solo sulle sue doti di combattimento per sopravvivere a tranelli e tradimenti, e cercando al tempo stesso di salvare l'uomo che ama e evitare una crisi planetaria. Del cast fanno parte anche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Rupert Friend, Ray Stevenson e Saffron Burrows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>
              <a:cs typeface="Calibri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56DA339D-2478-3BDF-C96E-9EF0BC9AD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422" y="89958"/>
            <a:ext cx="10515600" cy="1325563"/>
          </a:xfrm>
        </p:spPr>
        <p:txBody>
          <a:bodyPr/>
          <a:lstStyle/>
          <a:p>
            <a:r>
              <a:rPr lang="it-IT" sz="2800" err="1">
                <a:latin typeface="Arial Narrow"/>
                <a:cs typeface="Calibri Light"/>
              </a:rPr>
              <a:t>Canary</a:t>
            </a:r>
            <a:r>
              <a:rPr lang="it-IT" sz="2800">
                <a:latin typeface="Arial Narrow"/>
                <a:cs typeface="Calibri Light"/>
              </a:rPr>
              <a:t> Black: ecco il trailer ufficiale dello spy-thriller d'azione con Kate </a:t>
            </a:r>
            <a:r>
              <a:rPr lang="it-IT" sz="2800" err="1">
                <a:latin typeface="Arial Narrow"/>
                <a:cs typeface="Calibri Light"/>
              </a:rPr>
              <a:t>Beckin</a:t>
            </a:r>
            <a:endParaRPr lang="it-IT" sz="2800" err="1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7805417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4596983" y="11742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4409606" y="573998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Descrizione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pic>
        <p:nvPicPr>
          <p:cNvPr id="5" name="Immagine 4" descr="Immagine che contiene Viso umano, persona, vestiti, interno&#10;&#10;Descrizione generata automaticamente">
            <a:extLst>
              <a:ext uri="{FF2B5EF4-FFF2-40B4-BE49-F238E27FC236}">
                <a16:creationId xmlns:a16="http://schemas.microsoft.com/office/drawing/2014/main" id="{E7A942AB-F02D-943A-9A14-D823396AF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377" y="2230567"/>
            <a:ext cx="5259049" cy="295899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A73E93D-FE56-4420-168A-FC9F43AD4E7E}"/>
              </a:ext>
            </a:extLst>
          </p:cNvPr>
          <p:cNvSpPr txBox="1"/>
          <p:nvPr/>
        </p:nvSpPr>
        <p:spPr>
          <a:xfrm>
            <a:off x="4596982" y="186127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Immagine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8" name="Connettore 7">
            <a:extLst>
              <a:ext uri="{FF2B5EF4-FFF2-40B4-BE49-F238E27FC236}">
                <a16:creationId xmlns:a16="http://schemas.microsoft.com/office/drawing/2014/main" id="{FBB2A464-7C38-B818-015C-81A3F79FCDEC}"/>
              </a:ext>
            </a:extLst>
          </p:cNvPr>
          <p:cNvSpPr/>
          <p:nvPr/>
        </p:nvSpPr>
        <p:spPr>
          <a:xfrm>
            <a:off x="11296963" y="377872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77056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35"/>
            <a:ext cx="10515600" cy="4952247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    Dopo aver vinto il Leone d'argento alla scorsa Mostra del Cinema di Venezia, Vermiglio di Maura Delpero è stato selezionato per rappresentare l'Italia ai prossimi Oscar per il film internazionale. E' quindi stato preferito al favorito Parthenope di Paolo Sorrentino.</a:t>
            </a:r>
            <a:endParaRPr lang="it-IT" sz="160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    Con una certa sorpresa,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Vermiglio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di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Maura Delpero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è stato preferito al favorito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Parthenope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di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Paolo Sorrentino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dal Comitato di Selezione per il film italiano da designare agli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Oscars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®, istituito dall’ANICA su incarico dell’Academy of Motion Picture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Arts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and Sciences®.</a:t>
            </a:r>
            <a:endParaRPr lang="it-IT" sz="1600">
              <a:latin typeface="Calibri"/>
              <a:cs typeface="Calibri"/>
            </a:endParaRPr>
          </a:p>
          <a:p>
            <a:pPr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    Riunito davanti a un notaio e composto da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Pedro Armocida, Maria Rita Barbera, Cristina Battocletti, Giorgia Farina, Francesca Manieri, Guglielmo Marchetti, Paola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Mencuccini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, Giacomo Scarpelli, Giulia Louise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Steigerwalt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, Alessandro Usai, Cecilia Zanuso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ha votato infatti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Vermiglio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di Maura Delpero quale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film che rappresenterà l’Italia alla 97° edizione degli Academy Awards®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nella selezione per la categoria International Feature Film Award, con la seguente motivazione: “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per la sua capacità di raccontare l’Italia rurale del passato, i cui sentimenti e temi vengono resi universali e attuali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”.</a:t>
            </a:r>
            <a:endParaRPr lang="it-IT" sz="1600">
              <a:latin typeface="Calibri"/>
              <a:cs typeface="Calibri"/>
            </a:endParaRPr>
          </a:p>
          <a:p>
            <a:pPr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   “Vermiglio, che negli Stati Uniti sarà distribuito da </a:t>
            </a:r>
            <a:r>
              <a:rPr lang="it-IT" sz="1600" b="1" err="1">
                <a:solidFill>
                  <a:srgbClr val="202122"/>
                </a:solidFill>
                <a:latin typeface="Calibri"/>
                <a:cs typeface="Arial"/>
              </a:rPr>
              <a:t>Sideshow</a:t>
            </a:r>
            <a:r>
              <a:rPr lang="it-IT" sz="1600" b="1">
                <a:solidFill>
                  <a:srgbClr val="202122"/>
                </a:solidFill>
                <a:latin typeface="Calibri"/>
                <a:cs typeface="Arial"/>
              </a:rPr>
              <a:t> and Janus </a:t>
            </a:r>
            <a:r>
              <a:rPr lang="it-IT" sz="1600" b="1" err="1">
                <a:solidFill>
                  <a:srgbClr val="202122"/>
                </a:solidFill>
                <a:latin typeface="Calibri"/>
                <a:cs typeface="Arial"/>
              </a:rPr>
              <a:t>Films</a:t>
            </a:r>
            <a:r>
              <a:rPr lang="it-IT" sz="1600">
                <a:solidFill>
                  <a:srgbClr val="202122"/>
                </a:solidFill>
                <a:latin typeface="Calibri"/>
                <a:cs typeface="Arial"/>
              </a:rPr>
              <a:t>,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concorrerà per la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shortlist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che includerà i quindici migliori film internazionali selezionati dall’Academy® e che sarà resa nota il 17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 dicembre 2024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60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    L’annuncio delle nomination (la cinquina dei film nominati per concorrere al premio) è previsto per il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17 gennaio 2025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mentre la cerimonia di consegna degli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Oscars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® si terrà a Los Angeles il 2 marzo 2025</a:t>
            </a:r>
            <a:endParaRPr lang="it-IT" sz="1600">
              <a:latin typeface="Calibri"/>
              <a:cs typeface="Calibri"/>
            </a:endParaRPr>
          </a:p>
          <a:p>
            <a:pPr marL="0" indent="0">
              <a:buNone/>
            </a:pPr>
            <a:endParaRPr lang="it-IT" sz="1500">
              <a:cs typeface="Calibri" panose="020F0502020204030204"/>
            </a:endParaRPr>
          </a:p>
          <a:p>
            <a:endParaRPr lang="it-IT" sz="1500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9AB45FBA-C964-2AF8-3F78-A523E9F6D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644" y="61736"/>
            <a:ext cx="10515600" cy="1325563"/>
          </a:xfrm>
        </p:spPr>
        <p:txBody>
          <a:bodyPr/>
          <a:lstStyle/>
          <a:p>
            <a:r>
              <a:rPr lang="it-IT" sz="2800">
                <a:latin typeface="Arial Narrow"/>
                <a:cs typeface="Calibri Light"/>
              </a:rPr>
              <a:t>Vermiglio </a:t>
            </a:r>
            <a:r>
              <a:rPr lang="it-IT" sz="2800" err="1">
                <a:latin typeface="Arial Narrow"/>
                <a:cs typeface="Calibri Light"/>
              </a:rPr>
              <a:t>rappresentera'</a:t>
            </a:r>
            <a:r>
              <a:rPr lang="it-IT" sz="2800">
                <a:latin typeface="Arial Narrow"/>
                <a:cs typeface="Calibri Light"/>
              </a:rPr>
              <a:t> l'Italia agli Oscar</a:t>
            </a:r>
          </a:p>
        </p:txBody>
      </p:sp>
    </p:spTree>
    <p:extLst>
      <p:ext uri="{BB962C8B-B14F-4D97-AF65-F5344CB8AC3E}">
        <p14:creationId xmlns:p14="http://schemas.microsoft.com/office/powerpoint/2010/main" val="64509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37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37</vt:i4>
      </vt:variant>
    </vt:vector>
  </HeadingPairs>
  <TitlesOfParts>
    <vt:vector size="38" baseType="lpstr">
      <vt:lpstr>Tema di Office</vt:lpstr>
      <vt:lpstr>PROJECT WORK  </vt:lpstr>
      <vt:lpstr>Tecnologie da Utilizzare  Il progetto dovrà essere sviluppato con l'ultima versione di React v18. Per la creazione di Api e Authentication con Firebase o simili Librerie di componenti grafici- Bootstrap-Material. Libreria di chiamate Http: Axios Gestione delle chiamate e degli stati: Redux</vt:lpstr>
      <vt:lpstr>Trame Creare delle api che restituiscano immagine- titolo della trama e la descrizione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Campo di Battaglia: La trama del film di Gianni Amelio </vt:lpstr>
      <vt:lpstr>Presentazione standard di PowerPoint</vt:lpstr>
      <vt:lpstr>Never Let Go-A Un Passo Dal Male: la trama del film di Alexandre Aja</vt:lpstr>
      <vt:lpstr>Presentazione standard di PowerPoint</vt:lpstr>
      <vt:lpstr> Joker-Folie à Deux: la trama del film di Todd Philips </vt:lpstr>
      <vt:lpstr>Presentazione standard di PowerPoint</vt:lpstr>
      <vt:lpstr>    Making Of: la trama del film di Denis Podalydès  </vt:lpstr>
      <vt:lpstr>Presentazione standard di PowerPoint</vt:lpstr>
      <vt:lpstr> Maria Montessori –La Nouvelle Femme: la trama del film di Lèa Todorov</vt:lpstr>
      <vt:lpstr>Presentazione standard di PowerPoint</vt:lpstr>
      <vt:lpstr>Familia: la trama del film di Francesco Costabile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Io sono nessuno 2, John Ortiz si unisce al cast del sequel</vt:lpstr>
      <vt:lpstr>Presentazione standard di PowerPoint</vt:lpstr>
      <vt:lpstr>James Cameron abbraccia l'AI nel consiglio di amministrazione di Stability AI "Inimmaginabili mezzi per raccontare storie"</vt:lpstr>
      <vt:lpstr>Presentazione standard di PowerPoint</vt:lpstr>
      <vt:lpstr>Supergirl:Woman of Tomorrow,Matthias Schoenaerts sarà Krem delle Colline Gialle</vt:lpstr>
      <vt:lpstr>Presentazione standard di PowerPoint</vt:lpstr>
      <vt:lpstr>I migliori film in streaming di Catherine Zeta-Jones</vt:lpstr>
      <vt:lpstr>Presentazione standard di PowerPoint</vt:lpstr>
      <vt:lpstr>Canary Black: ecco il trailer ufficiale dello spy-thriller d'azione con Kate Beckin</vt:lpstr>
      <vt:lpstr>Presentazione standard di PowerPoint</vt:lpstr>
      <vt:lpstr>Vermiglio rappresentera' l'Italia agli Oscar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WORK  </dc:title>
  <dc:creator>Fabio Di Gloria</dc:creator>
  <cp:revision>134</cp:revision>
  <dcterms:created xsi:type="dcterms:W3CDTF">2022-10-20T13:33:27Z</dcterms:created>
  <dcterms:modified xsi:type="dcterms:W3CDTF">2024-10-30T15:21:20Z</dcterms:modified>
</cp:coreProperties>
</file>